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Space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39989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2640767"/>
            <a:ext cx="5430404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b="1" dirty="0">
                <a:solidFill>
                  <a:srgbClr val="078BB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MAINTENAX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3788271"/>
            <a:ext cx="6039989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MaintenaX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09585" y="4147542"/>
            <a:ext cx="54304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centralized, constraint-aware workflow for maintenance requests, resource decisions, exceptions and service history.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585" y="4671417"/>
            <a:ext cx="710984" cy="192782"/>
          </a:xfrm>
          <a:prstGeom prst="roundRect">
            <a:avLst>
              <a:gd name="adj" fmla="val 22134"/>
            </a:avLst>
          </a:prstGeom>
          <a:solidFill>
            <a:srgbClr val="E6E5E6"/>
          </a:solidFill>
          <a:ln/>
        </p:spPr>
      </p:sp>
      <p:sp>
        <p:nvSpPr>
          <p:cNvPr id="7" name="Text 5"/>
          <p:cNvSpPr/>
          <p:nvPr/>
        </p:nvSpPr>
        <p:spPr>
          <a:xfrm>
            <a:off x="685684" y="4712471"/>
            <a:ext cx="1168371" cy="11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914999"/>
            <a:ext cx="2353112" cy="13334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0" name="Text 7"/>
          <p:cNvSpPr/>
          <p:nvPr/>
        </p:nvSpPr>
        <p:spPr>
          <a:xfrm>
            <a:off x="7411455" y="304800"/>
            <a:ext cx="478024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NAME: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11455" y="538980"/>
            <a:ext cx="447544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404:NOT FOUND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7411455" y="1161653"/>
            <a:ext cx="1476735" cy="31651"/>
          </a:xfrm>
          <a:prstGeom prst="roundRect">
            <a:avLst>
              <a:gd name="adj" fmla="val 49998"/>
            </a:avLst>
          </a:prstGeom>
          <a:solidFill>
            <a:srgbClr val="353334"/>
          </a:solidFill>
          <a:ln/>
        </p:spPr>
      </p:sp>
      <p:sp>
        <p:nvSpPr>
          <p:cNvPr id="13" name="Text 10"/>
          <p:cNvSpPr/>
          <p:nvPr/>
        </p:nvSpPr>
        <p:spPr>
          <a:xfrm>
            <a:off x="7411455" y="1366441"/>
            <a:ext cx="47802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11455" y="1699816"/>
            <a:ext cx="4475447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Sonhita Ghose – 26BEC1406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Kinjal Sarkar – 26BCE1313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Aishani Basu – 26BCE1366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Shourya Kumar Gupta – 26BCE1304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11455" y="2733278"/>
            <a:ext cx="4475447" cy="324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Id: DQ3-023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Statement: DQBH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855266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Problem Definition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588691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affected · Current workarounds · Why coordination breaks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585" y="1922066"/>
            <a:ext cx="5333867" cy="1502966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150666"/>
            <a:ext cx="5105272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AUDIENCE — WHO &amp; HOW OFTEN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38179" y="2391569"/>
            <a:ext cx="4876678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managers, supervisors and maintenance technicians coordinate requests across machines, people and sites.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Breakdowns, resource conflicts and SLA risks create frequent assignment and exception-handling work.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8244" y="1922066"/>
            <a:ext cx="5333867" cy="1502966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2150666"/>
            <a:ext cx="5105272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 QUO — CURRENT APPROACH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76838" y="2391569"/>
            <a:ext cx="4876678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schedules, spare parts, progress and verification are coordinated across calls, messages, spreadsheets and disconnected workflows.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Technicians are assigned by availability, skills and location; changes require manual intervention.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9585" y="3729831"/>
            <a:ext cx="5333867" cy="1502966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79" y="3958431"/>
            <a:ext cx="5105272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DEFICIENCY — WHY IT FALLS SHORT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38179" y="4199334"/>
            <a:ext cx="4876678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operational view across requests, resources, service history and SLA impact.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assignment decisions can miss workload, inventory and downstream conflicts.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8244" y="3729831"/>
            <a:ext cx="5333867" cy="1502966"/>
          </a:xfrm>
          <a:prstGeom prst="rect">
            <a:avLst/>
          </a:prstGeom>
          <a:solidFill>
            <a:srgbClr val="FFB903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3958431"/>
            <a:ext cx="5105272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— EVIDENCE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76838" y="4199334"/>
            <a:ext cx="4876678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scheduling is resource-constrained across technicians, equipment, priorities and operating conditions. [2]</a:t>
            </a:r>
            <a:endParaRPr lang="en-US" sz="1000" dirty="0"/>
          </a:p>
          <a:p>
            <a:pPr algn="l" marL="203200" indent="-2032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semiconductor-manufacturing case reported an 18% MTTR reduction using competence-based planning. [3]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855266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C743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Proposed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588691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workflow · Feasible decisions · Recovery when conditions change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585" y="1922066"/>
            <a:ext cx="4267093" cy="2873077"/>
          </a:xfrm>
          <a:prstGeom prst="rect">
            <a:avLst/>
          </a:prstGeom>
          <a:solidFill>
            <a:srgbClr val="079ED2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074466"/>
            <a:ext cx="4114697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FFFFF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 CORE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1981" y="2315369"/>
            <a:ext cx="3962301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request creation to verification, MaintenaX keeps the service lifecycle in one operational view.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1981" y="2826742"/>
            <a:ext cx="39623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decision layer evaluates technician, resource, workload and operational constraints to recommend feasible options.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3499842"/>
            <a:ext cx="2016968" cy="114290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81371" y="1922066"/>
            <a:ext cx="6400739" cy="2873077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1" name="Text 8"/>
          <p:cNvSpPr/>
          <p:nvPr/>
        </p:nvSpPr>
        <p:spPr>
          <a:xfrm>
            <a:off x="5333767" y="2074466"/>
            <a:ext cx="6248343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FLOW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333767" y="2306124"/>
            <a:ext cx="60959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· USER INPUT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333767" y="2684463"/>
            <a:ext cx="62483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details, fault, priority, location, required skills and spare parts.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33767" y="3022880"/>
            <a:ext cx="60959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· PROCESSING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333767" y="3401219"/>
            <a:ext cx="60959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the request; evaluate availability, workload, conflicts and SLA impact; rank feasible strategies.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33767" y="3930136"/>
            <a:ext cx="609594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· OUTPUT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333767" y="4308475"/>
            <a:ext cx="62483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or assigned technician, reserved resources, status updates and exception alerts.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9585" y="4938018"/>
            <a:ext cx="10972526" cy="546100"/>
          </a:xfrm>
          <a:prstGeom prst="rect">
            <a:avLst/>
          </a:prstGeom>
          <a:solidFill>
            <a:srgbClr val="FFB903"/>
          </a:solidFill>
          <a:ln/>
        </p:spPr>
      </p:sp>
      <p:sp>
        <p:nvSpPr>
          <p:cNvPr id="19" name="Text 16"/>
          <p:cNvSpPr/>
          <p:nvPr/>
        </p:nvSpPr>
        <p:spPr>
          <a:xfrm>
            <a:off x="787380" y="5115818"/>
            <a:ext cx="107947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Centralized requests, resources and history; decisions consider more than availability; reassignment is supported when conditions change.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151"/>
            <a:ext cx="1158211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09585" y="790142"/>
            <a:ext cx="10972526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b="1" dirty="0">
                <a:solidFill>
                  <a:srgbClr val="F05A3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pPr algn="l" indent="0" marL="0">
              <a:lnSpc>
                <a:spcPct val="100000"/>
              </a:lnSpc>
              <a:buNone/>
            </a:pPr>
            <a:r>
              <a:rPr lang="en-US" sz="325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System Architecture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09585" y="1368723"/>
            <a:ext cx="11582110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stack · Clear interfaces · Decision layer kept distinct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09585" y="1602383"/>
            <a:ext cx="2666933" cy="1212155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1758334"/>
            <a:ext cx="251453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61981" y="1932378"/>
            <a:ext cx="2362141" cy="545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Vite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1981" y="2522339"/>
            <a:ext cx="2514537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UI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28914" y="1602383"/>
            <a:ext cx="2590735" cy="1212155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0" name="Text 8"/>
          <p:cNvSpPr/>
          <p:nvPr/>
        </p:nvSpPr>
        <p:spPr>
          <a:xfrm>
            <a:off x="3581310" y="1758334"/>
            <a:ext cx="2438339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81310" y="1932378"/>
            <a:ext cx="2285943" cy="36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81310" y="2340570"/>
            <a:ext cx="2438339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+ workflows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72046" y="1602383"/>
            <a:ext cx="2590735" cy="1212155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1758334"/>
            <a:ext cx="2438339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24442" y="1932378"/>
            <a:ext cx="2285943" cy="36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SQLAlchemy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24442" y="2340570"/>
            <a:ext cx="2438339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data access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915177" y="1602383"/>
            <a:ext cx="2666933" cy="1212155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1758334"/>
            <a:ext cx="251453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067573" y="1932378"/>
            <a:ext cx="2362141" cy="36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</a:t>
            </a:r>
            <a:endParaRPr lang="en-US" sz="10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67573" y="2340570"/>
            <a:ext cx="2514537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Constraint evaluation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9585" y="2966938"/>
            <a:ext cx="2666933" cy="1212155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22" name="Text 20"/>
          <p:cNvSpPr/>
          <p:nvPr/>
        </p:nvSpPr>
        <p:spPr>
          <a:xfrm>
            <a:off x="761981" y="3122889"/>
            <a:ext cx="251453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61981" y="3296933"/>
            <a:ext cx="2514537" cy="181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JWT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1981" y="3523357"/>
            <a:ext cx="2514537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28914" y="2966938"/>
            <a:ext cx="2590735" cy="1212155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26" name="Text 24"/>
          <p:cNvSpPr/>
          <p:nvPr/>
        </p:nvSpPr>
        <p:spPr>
          <a:xfrm>
            <a:off x="3581310" y="3122889"/>
            <a:ext cx="2438339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81310" y="3296933"/>
            <a:ext cx="2438339" cy="181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81310" y="3523357"/>
            <a:ext cx="2438339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production DB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72046" y="2966938"/>
            <a:ext cx="2590735" cy="1212155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30" name="Text 28"/>
          <p:cNvSpPr/>
          <p:nvPr/>
        </p:nvSpPr>
        <p:spPr>
          <a:xfrm>
            <a:off x="6324442" y="3122889"/>
            <a:ext cx="2438339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07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324442" y="3296933"/>
            <a:ext cx="2438339" cy="181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Recovery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24442" y="3523357"/>
            <a:ext cx="2438339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Reassignment path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915177" y="2966938"/>
            <a:ext cx="2666933" cy="1212155"/>
          </a:xfrm>
          <a:prstGeom prst="rect">
            <a:avLst/>
          </a:prstGeom>
          <a:solidFill>
            <a:srgbClr val="FFB903"/>
          </a:solidFill>
          <a:ln/>
        </p:spPr>
      </p:sp>
      <p:sp>
        <p:nvSpPr>
          <p:cNvPr id="34" name="Text 32"/>
          <p:cNvSpPr/>
          <p:nvPr/>
        </p:nvSpPr>
        <p:spPr>
          <a:xfrm>
            <a:off x="9067573" y="3122889"/>
            <a:ext cx="2514537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067573" y="3296933"/>
            <a:ext cx="2514537" cy="181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67573" y="3523357"/>
            <a:ext cx="2514537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9585" y="4272955"/>
            <a:ext cx="4622684" cy="2591792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38" name="Text 36"/>
          <p:cNvSpPr/>
          <p:nvPr/>
        </p:nvSpPr>
        <p:spPr>
          <a:xfrm>
            <a:off x="761981" y="4428906"/>
            <a:ext cx="44702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&amp; TECHNOLOGIES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61981" y="4596011"/>
            <a:ext cx="4317892" cy="71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React, Vite, Tailwind CSS — responsive interface.</a:t>
            </a:r>
            <a:endParaRPr lang="en-US" sz="800" dirty="0"/>
          </a:p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+ FastAPI — requests, workflows, validation and API communication.</a:t>
            </a:r>
            <a:endParaRPr lang="en-US" sz="800" dirty="0"/>
          </a:p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SQLAlchemy + SQLite for the MVP; PostgreSQL planned for production.</a:t>
            </a:r>
            <a:endParaRPr lang="en-US" sz="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</a:t>
            </a:r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JWT for authentication and authorization.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36962" y="4272955"/>
            <a:ext cx="6045148" cy="2591792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41" name="Text 39"/>
          <p:cNvSpPr/>
          <p:nvPr/>
        </p:nvSpPr>
        <p:spPr>
          <a:xfrm>
            <a:off x="5689358" y="4428906"/>
            <a:ext cx="5892752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 DECISION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89358" y="4596011"/>
            <a:ext cx="5740356" cy="279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frontend, backend, database and intelligence layer can be developed and tested independently through structured interfaces.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89358" y="4930754"/>
            <a:ext cx="5892752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89358" y="5097859"/>
            <a:ext cx="5892752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API tests, mock-data workflow tests and end-to-end service-lifecycle tests.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89358" y="5292804"/>
            <a:ext cx="5892752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spc="4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 WORKFLOW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689358" y="5459909"/>
            <a:ext cx="5740356" cy="1081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Wokwi → ESP32 → Wi‑Fi → EMQX MQTT → Node-RED → FastAPI → MaintenaX</a:t>
            </a:r>
            <a:endParaRPr lang="en-US" sz="800" dirty="0"/>
          </a:p>
          <a:p>
            <a:pPr algn="l"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Wokwi + ESP32 simulate an industrial machine and sensors: DHT22 provides temperature &amp; humidity; potentiometers provide vibration &amp; current. ESP32 reads sensors and detects anomalies using threshold rules; LED/buzzer activate during critical conditions.</a:t>
            </a:r>
            <a:endParaRPr lang="en-US" sz="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MQTT/EMQX transfers real-time machine telemetry; Node-RED parses telemetry and forwards it to FastAPI, which validates and processes /telemetry data. MaintenaX uses machine data for monitoring, alerts and maintenance workflows.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89358" y="6596836"/>
            <a:ext cx="5892752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Wokwi provides a safe, low-cost, repeatable way to simulate industrial conditions without physical machinery.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855266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 Intelligence &amp; Decision Engine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588691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NOVELTY / WHAT MAKES MAINTENAX DIFFERENT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585" y="1922066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MaintenaX connects real-time machine telemetry with maintenance management through an end-to-end IoT pipeline.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3657600"/>
            <a:ext cx="6649573" cy="3200400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7" name="Text 5"/>
          <p:cNvSpPr/>
          <p:nvPr/>
        </p:nvSpPr>
        <p:spPr>
          <a:xfrm>
            <a:off x="228594" y="3886200"/>
            <a:ext cx="6420979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MULTI-STRATEGY DECISION MAKING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8594" y="4191397"/>
            <a:ext cx="6420979" cy="216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MaintenaX does not simply find an available technician.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594" y="4550668"/>
            <a:ext cx="61923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evaluates multiple feasible assignment strategies and selects or recommends the option with the lowest overall operational impact.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594" y="5106293"/>
            <a:ext cx="74709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907" y="5074543"/>
            <a:ext cx="60040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Multi-strategy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Compares feasible assignments rather than choosing the first available.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594" y="5296793"/>
            <a:ext cx="77249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2306" y="5265043"/>
            <a:ext cx="59786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Context-aware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Skills, availability, location, workload and spare parts.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594" y="5487293"/>
            <a:ext cx="774185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993" y="5455543"/>
            <a:ext cx="59769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Ripple / impact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Effects on other jobs, SLA commitments, inventory and resources.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594" y="5677793"/>
            <a:ext cx="777955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7763" y="5646043"/>
            <a:ext cx="59732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Exception / recovery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Re-evaluates when people, parts or priorities change.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594" y="5868293"/>
            <a:ext cx="77120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1016" y="5836543"/>
            <a:ext cx="59799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memory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Stores outcomes in service history for future decisions.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06663" y="3657600"/>
            <a:ext cx="5085032" cy="3200400"/>
          </a:xfrm>
          <a:prstGeom prst="rect">
            <a:avLst/>
          </a:prstGeom>
          <a:solidFill>
            <a:srgbClr val="FFB903"/>
          </a:solidFill>
          <a:ln/>
        </p:spPr>
      </p:sp>
      <p:sp>
        <p:nvSpPr>
          <p:cNvPr id="21" name="Text 19"/>
          <p:cNvSpPr/>
          <p:nvPr/>
        </p:nvSpPr>
        <p:spPr>
          <a:xfrm>
            <a:off x="7335257" y="3886200"/>
            <a:ext cx="4856438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CONSTRAINTS ARE THE WORK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35257" y="4191397"/>
            <a:ext cx="46278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· Availability · Workload · Location · Spare parts · SLA impact · Operational conflicts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35257" y="4745434"/>
            <a:ext cx="1527038" cy="31651"/>
          </a:xfrm>
          <a:prstGeom prst="roundRect">
            <a:avLst>
              <a:gd name="adj" fmla="val 49998"/>
            </a:avLst>
          </a:prstGeom>
          <a:solidFill>
            <a:srgbClr val="353334"/>
          </a:solidFill>
          <a:ln/>
        </p:spPr>
      </p:sp>
      <p:sp>
        <p:nvSpPr>
          <p:cNvPr id="24" name="Text 22"/>
          <p:cNvSpPr/>
          <p:nvPr/>
        </p:nvSpPr>
        <p:spPr>
          <a:xfrm>
            <a:off x="7335257" y="4950222"/>
            <a:ext cx="4627844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Centralized workflow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Constraint-aware resource matching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Multi-strategy decision making</a:t>
            </a:r>
            <a:endParaRPr lang="en-US" sz="1000" dirty="0"/>
          </a:p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Exception / recovery handling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assigning a technician to optimizing the operational decision.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35257" y="6188472"/>
            <a:ext cx="4627844" cy="324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intelligence layer supports recommendations and re-evaluation; it is not presented as fully autonomous AI.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855266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6B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06</a:t>
            </a:r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Feasibility &amp; Scope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588691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Concrete boundaries · Cost to start · Risks · Scalable path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2438301"/>
            <a:ext cx="5867253" cy="1981398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6" name="Text 4"/>
          <p:cNvSpPr/>
          <p:nvPr/>
        </p:nvSpPr>
        <p:spPr>
          <a:xfrm>
            <a:off x="177796" y="2616101"/>
            <a:ext cx="5689458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 · BOUNDARIES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77796" y="2859861"/>
            <a:ext cx="551166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IS IN SCOPE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7796" y="3412232"/>
            <a:ext cx="5511662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IN:</a:t>
            </a:r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Request lifecycle; technician/resource management; validation; recommendation; assignment/reassignment; status tracking; verification and audit history.</a:t>
            </a:r>
            <a:endParaRPr lang="en-US" sz="1000" dirty="0"/>
          </a:p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IoT:</a:t>
            </a:r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workflow is already implemented as a Wokwi/ESP32 simulation.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OUT: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Deployment with physical machinery, predictive maintenance, advanced AI/ML training, production deployment, mobile app and enterprise integrations.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7796" y="4793357"/>
            <a:ext cx="5689458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· COST EFFECTIVENESS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796" y="5098554"/>
            <a:ext cx="551166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Estimated prototype running cost: ₹0/month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React, FastAPI and SQLite can run locally without mandatory cloud or API cost; the core stack has no mandatory software licensing cost.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24442" y="2438301"/>
            <a:ext cx="5867253" cy="1981398"/>
          </a:xfrm>
          <a:prstGeom prst="rect">
            <a:avLst/>
          </a:prstGeom>
          <a:solidFill>
            <a:srgbClr val="FFB903"/>
          </a:solidFill>
          <a:ln/>
        </p:spPr>
      </p:sp>
      <p:sp>
        <p:nvSpPr>
          <p:cNvPr id="12" name="Text 10"/>
          <p:cNvSpPr/>
          <p:nvPr/>
        </p:nvSpPr>
        <p:spPr>
          <a:xfrm>
            <a:off x="6502237" y="2616101"/>
            <a:ext cx="5689458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· WHY IT REMAINS PRACTICAL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02237" y="2921298"/>
            <a:ext cx="5511662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INFRASTRUCTURE COST</a:t>
            </a:r>
            <a:endParaRPr lang="en-US" sz="1000" dirty="0"/>
          </a:p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MVP operation.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LESS MANUAL COORDINATION</a:t>
            </a:r>
            <a:endParaRPr lang="en-US" sz="1000" dirty="0"/>
          </a:p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requests, assignments, resources and exceptions.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UTILIZATION</a:t>
            </a:r>
            <a:endParaRPr lang="en-US" sz="1000" dirty="0"/>
          </a:p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Workload, skills, location, parts and SLA impact inform decisions.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PATH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now; PostgreSQL and cloud infrastructure when scale requires.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02237" y="5016798"/>
            <a:ext cx="5689458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financial saving is claimed. 30% is only a target estimate for manual-coordination reduction.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0" y="4876800"/>
            <a:ext cx="5867253" cy="1981200"/>
          </a:xfrm>
          <a:prstGeom prst="rect">
            <a:avLst/>
          </a:prstGeom>
          <a:solidFill>
            <a:srgbClr val="079ED2"/>
          </a:solidFill>
          <a:ln/>
        </p:spPr>
      </p:sp>
      <p:sp>
        <p:nvSpPr>
          <p:cNvPr id="16" name="Text 14"/>
          <p:cNvSpPr/>
          <p:nvPr/>
        </p:nvSpPr>
        <p:spPr>
          <a:xfrm>
            <a:off x="152396" y="5029200"/>
            <a:ext cx="55624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 · CONTINGENCY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If the intelligence layer or API fails, manual assignment and status updates remain available; log the exception for later resolution.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24442" y="4876800"/>
            <a:ext cx="5867253" cy="1981200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6838" y="5029200"/>
            <a:ext cx="5714857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 · HORIZON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76838" y="5334397"/>
            <a:ext cx="55624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After the hackathon: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complete the intelligence engine and notifications; then consider PostgreSQL deployment, security hardening, monitoring, backups and scalable APIs.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855266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07 Impact &amp; Metrics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588691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improvement · Transparent measurement · Stakeholder value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064966"/>
            <a:ext cx="5867253" cy="3793034"/>
          </a:xfrm>
          <a:prstGeom prst="rect">
            <a:avLst/>
          </a:prstGeom>
          <a:solidFill>
            <a:srgbClr val="FFB903"/>
          </a:solidFill>
          <a:ln/>
        </p:spPr>
      </p:sp>
      <p:sp>
        <p:nvSpPr>
          <p:cNvPr id="6" name="Text 4"/>
          <p:cNvSpPr/>
          <p:nvPr/>
        </p:nvSpPr>
        <p:spPr>
          <a:xfrm>
            <a:off x="152396" y="3217366"/>
            <a:ext cx="5714857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METRIC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2396" y="3506847"/>
            <a:ext cx="5562461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[ 30% ]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52396" y="4609783"/>
            <a:ext cx="556246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TARGET ESTIMATE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2396" y="5162153"/>
            <a:ext cx="556246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reduction in manual coordination effort through centralized requests, assignment and exception management.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 yet measured; not a validated result.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2396" y="6019403"/>
            <a:ext cx="5714857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IT WILL BE MEASURED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2396" y="6324600"/>
            <a:ext cx="55624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time and manual steps for identical mock-data workflows in MaintenaX versus the current manual/disconnected process.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24442" y="3064966"/>
            <a:ext cx="5867253" cy="3793034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3" name="Text 11"/>
          <p:cNvSpPr/>
          <p:nvPr/>
        </p:nvSpPr>
        <p:spPr>
          <a:xfrm>
            <a:off x="6578435" y="3318966"/>
            <a:ext cx="561326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01 — WHAT IMPROVES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78435" y="3624163"/>
            <a:ext cx="53592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assignment, resource tracking, status updates and exception management aim to reduce repetitive coordination.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78435" y="4178201"/>
            <a:ext cx="1768431" cy="31651"/>
          </a:xfrm>
          <a:prstGeom prst="roundRect">
            <a:avLst>
              <a:gd name="adj" fmla="val 49998"/>
            </a:avLst>
          </a:prstGeom>
          <a:solidFill>
            <a:srgbClr val="353334"/>
          </a:solidFill>
          <a:ln/>
        </p:spPr>
      </p:sp>
      <p:sp>
        <p:nvSpPr>
          <p:cNvPr id="16" name="Text 14"/>
          <p:cNvSpPr/>
          <p:nvPr/>
        </p:nvSpPr>
        <p:spPr>
          <a:xfrm>
            <a:off x="6578435" y="4382988"/>
            <a:ext cx="561326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02 — WHO BENEFITS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78435" y="4688185"/>
            <a:ext cx="53592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Technicians, operations managers, plant supervisors, spare-parts teams and multi-site organizations gain shared visibility.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78435" y="5242223"/>
            <a:ext cx="1768431" cy="31651"/>
          </a:xfrm>
          <a:prstGeom prst="roundRect">
            <a:avLst>
              <a:gd name="adj" fmla="val 49998"/>
            </a:avLst>
          </a:prstGeom>
          <a:solidFill>
            <a:srgbClr val="353334"/>
          </a:solidFill>
          <a:ln/>
        </p:spPr>
      </p:sp>
      <p:sp>
        <p:nvSpPr>
          <p:cNvPr id="19" name="Text 17"/>
          <p:cNvSpPr/>
          <p:nvPr/>
        </p:nvSpPr>
        <p:spPr>
          <a:xfrm>
            <a:off x="6578435" y="5447010"/>
            <a:ext cx="561326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03 — RISKS / MISUSE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78435" y="5752207"/>
            <a:ext cx="53592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Outdated data or system failures can cause wrong assignments or delays. Mitigation: validation, alerts, logging and manual reassignment.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855266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08 Why This Project?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588691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APPLICATION · From issue to verified history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657600"/>
            <a:ext cx="5867253" cy="3200400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6" name="Text 4"/>
          <p:cNvSpPr/>
          <p:nvPr/>
        </p:nvSpPr>
        <p:spPr>
          <a:xfrm>
            <a:off x="152396" y="3810000"/>
            <a:ext cx="5714857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IT FITS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2396" y="4044180"/>
            <a:ext cx="55624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REAL-WORLD APPLICATION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2396" y="4636691"/>
            <a:ext cx="5562461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plants, factories with multiple machines, multi-site operations, equipment/facility maintenance and service teams.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Especially useful where organizations manage multiple machines, technicians, spare parts, locations, priorities and SLA constraints.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2396" y="5684441"/>
            <a:ext cx="5714857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WORKFLOW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2396" y="5989638"/>
            <a:ext cx="5562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issue → Service request → Validation → Resource &amp; technician evaluation → Best feasible assignment → Execution → Exception / reassignment → Completion &amp; verification → Service history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24442" y="3657600"/>
            <a:ext cx="5867253" cy="3200400"/>
          </a:xfrm>
          <a:prstGeom prst="rect">
            <a:avLst/>
          </a:prstGeom>
          <a:solidFill>
            <a:srgbClr val="079ED2"/>
          </a:solidFill>
          <a:ln/>
        </p:spPr>
      </p:sp>
      <p:sp>
        <p:nvSpPr>
          <p:cNvPr id="12" name="Text 10"/>
          <p:cNvSpPr/>
          <p:nvPr/>
        </p:nvSpPr>
        <p:spPr>
          <a:xfrm>
            <a:off x="6476838" y="3810000"/>
            <a:ext cx="5714857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MAINTENAX?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76838" y="4044180"/>
            <a:ext cx="556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DIFFERENT OPERATING MODEL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76838" y="5093891"/>
            <a:ext cx="55624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MaintenaX transforms maintenance from a disconnected coordination process into a centralized, constraint-aware decision workflow.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76838" y="5649516"/>
            <a:ext cx="5562461" cy="19050"/>
          </a:xfrm>
          <a:prstGeom prst="roundRect">
            <a:avLst>
              <a:gd name="adj" fmla="val 49999"/>
            </a:avLst>
          </a:prstGeom>
          <a:solidFill>
            <a:srgbClr val="353334"/>
          </a:solidFill>
          <a:ln/>
        </p:spPr>
      </p:sp>
      <p:sp>
        <p:nvSpPr>
          <p:cNvPr id="16" name="Text 14"/>
          <p:cNvSpPr/>
          <p:nvPr/>
        </p:nvSpPr>
        <p:spPr>
          <a:xfrm>
            <a:off x="6476838" y="5843191"/>
            <a:ext cx="556246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COST TO START + SMARTER RESOURCE DECISIONS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REAL-WORLD INDUSTRIAL APPLICABILITY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EXCEPTION &amp; RECOVERY SUPPORT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SCALABLE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spc="49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9585" y="848092"/>
            <a:ext cx="10972526" cy="589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50" b="1" dirty="0">
                <a:solidFill>
                  <a:srgbClr val="FF6B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09</a:t>
            </a:r>
            <a:pPr algn="l" indent="0" marL="0">
              <a:lnSpc>
                <a:spcPct val="100000"/>
              </a:lnSpc>
              <a:buNone/>
            </a:pPr>
            <a:r>
              <a:rPr lang="en-US" sz="385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Future Roadmap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609585" y="1547614"/>
            <a:ext cx="11582110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credible path beyond the prototype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9585" y="1862733"/>
            <a:ext cx="3454314" cy="2347218"/>
          </a:xfrm>
          <a:prstGeom prst="rect">
            <a:avLst/>
          </a:prstGeom>
          <a:solidFill>
            <a:srgbClr val="FFB903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116733"/>
            <a:ext cx="3200320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spc="49" kern="100" dirty="0">
                <a:solidFill>
                  <a:srgbClr val="3533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3578" y="2347078"/>
            <a:ext cx="2946326" cy="41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Deploy for scale.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63578" y="2817614"/>
            <a:ext cx="2946326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3533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with PostgreSQL, cloud hosting, authentication and security hardening, monitoring, backups and scalable APIs.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68691" y="1862733"/>
            <a:ext cx="3454314" cy="2347218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0" name="Text 8"/>
          <p:cNvSpPr/>
          <p:nvPr/>
        </p:nvSpPr>
        <p:spPr>
          <a:xfrm>
            <a:off x="4622684" y="2116733"/>
            <a:ext cx="3200320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spc="49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 · INTELLIGENT PREDICTIVE MAINTENANCE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22684" y="2347078"/>
            <a:ext cx="2946326" cy="825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enhancement: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622684" y="3230463"/>
            <a:ext cx="2946326" cy="72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historical maintenance and machine/service data to identify recurring failure patterns and eventually support predictive maintenance recommendations.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27797" y="1862733"/>
            <a:ext cx="3454314" cy="2347218"/>
          </a:xfrm>
          <a:prstGeom prst="rect">
            <a:avLst/>
          </a:prstGeom>
          <a:solidFill>
            <a:srgbClr val="079ED2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0" y="2116733"/>
            <a:ext cx="3200320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spc="49" kern="100" dirty="0">
                <a:solidFill>
                  <a:srgbClr val="FFFFF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· ADVANCED ANALYTICS &amp; DECISION INSIGHTS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81790" y="2347078"/>
            <a:ext cx="2946326" cy="825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enhancement: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381790" y="3230463"/>
            <a:ext cx="2946326" cy="72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analytics dashboards for maintenance trends, technician performance, resource utilization, recurring failures, SLA performance and operational bottlenecks.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9585" y="4514751"/>
            <a:ext cx="5333867" cy="2347218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18" name="Text 16"/>
          <p:cNvSpPr/>
          <p:nvPr/>
        </p:nvSpPr>
        <p:spPr>
          <a:xfrm>
            <a:off x="863578" y="4768751"/>
            <a:ext cx="5079873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spc="49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· ENTERPRISE INTEGRATION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3578" y="4999096"/>
            <a:ext cx="4825879" cy="41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enhancement: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63578" y="5469632"/>
            <a:ext cx="4825879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MaintenaX with existing enterprise systems such as ERP, CMMS, inventory and workforce-management platforms to create a connected maintenance ecosystem.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48244" y="4514751"/>
            <a:ext cx="5333867" cy="2347218"/>
          </a:xfrm>
          <a:prstGeom prst="rect">
            <a:avLst/>
          </a:prstGeom>
          <a:solidFill>
            <a:srgbClr val="079ED2"/>
          </a:solidFill>
          <a:ln/>
        </p:spPr>
      </p:sp>
      <p:sp>
        <p:nvSpPr>
          <p:cNvPr id="22" name="Text 20"/>
          <p:cNvSpPr/>
          <p:nvPr/>
        </p:nvSpPr>
        <p:spPr>
          <a:xfrm>
            <a:off x="6502237" y="4768751"/>
            <a:ext cx="5079873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b="1" spc="49" kern="100" dirty="0">
                <a:solidFill>
                  <a:srgbClr val="FFFFF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 · MULTI-SITE / LARGE-SCALE DEPLOYMENT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02237" y="4999096"/>
            <a:ext cx="4825879" cy="41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enhancement: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502237" y="5469632"/>
            <a:ext cx="4825879" cy="362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the architecture to support large organizations managing multiple plants, service locations, machines, technicians and maintenance teams.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706092"/>
            <a:ext cx="2910807" cy="162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spc="51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DATAQUEST 3.0 · ROUND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2951758"/>
            <a:ext cx="2301222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35333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 Sources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977481" y="0"/>
            <a:ext cx="8214214" cy="6858000"/>
          </a:xfrm>
          <a:prstGeom prst="rect">
            <a:avLst/>
          </a:prstGeom>
          <a:solidFill>
            <a:srgbClr val="F4F2EA"/>
          </a:solidFill>
          <a:ln/>
        </p:spPr>
      </p:sp>
      <p:sp>
        <p:nvSpPr>
          <p:cNvPr id="5" name="Text 3"/>
          <p:cNvSpPr/>
          <p:nvPr/>
        </p:nvSpPr>
        <p:spPr>
          <a:xfrm>
            <a:off x="4282273" y="2714625"/>
            <a:ext cx="7604629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“Where do we start? Guidance for technology implementation in maintenance management for manufacturing,” 2018 research review.</a:t>
            </a:r>
            <a:endParaRPr lang="en-US" sz="1000" dirty="0"/>
          </a:p>
          <a:p>
            <a:pPr algn="l" indent="0" marL="0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Dinis, “Maintenance capacity planning, spare parts management, and maintenance scheduling: An overview,” Elsevier, 2025.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“A competence-based planning methodology for optimizing human resource allocation in industrial maintenance,” 2023/2024 study.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2026-10-08T05:17:48Z</dcterms:created>
  <dcterms:modified xsi:type="dcterms:W3CDTF">2026-10-08T05:17:48Z</dcterms:modified>
</cp:coreProperties>
</file>