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Exo"/>
      <p:regular r:id="rId201314"/>
    </p:embeddedFont>
    <p:embeddedFont>
      <p:font typeface="Exo Medium"/>
      <p:regular r:id="rId201315"/>
    </p:embeddedFont>
    <p:embeddedFont>
      <p:font typeface="Exo SemiBold"/>
      <p:regular r:id="rId201316"/>
    </p:embeddedFont>
    <p:embeddedFont>
      <p:font typeface="Exo Bold"/>
      <p:regular r:id="rId201317"/>
    </p:embeddedFont>
    <p:embeddedFont>
      <p:font typeface="Fira Mono Medium"/>
      <p:regular r:id="rId201318"/>
    </p:embeddedFont>
    <p:embeddedFont>
      <p:font typeface="Fira Mono Bold"/>
      <p:regular r:id="rId201319"/>
    </p:embeddedFont>
    <p:embeddedFont>
      <p:font typeface="Fira Mono"/>
      <p:regular r:id="rId201320"/>
    </p:embeddedFont>
    <p:embeddedFont>
      <p:font typeface="Michroma"/>
      <p:regular r:id="rId201321"/>
    </p:embeddedFont>
    <p:embeddedFont>
      <p:font typeface="MuseoModerno Bold"/>
      <p:regular r:id="rId2013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MaintenaX is our response to DQBH’s activity-management challenge: make industrial maintenance coordinated, visible, and accountable. The cover establishes the team, the problem statement, and the live demo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repair is only one moment in the lifecycle. The harder problem is keeping people, resources, timing, and decisions aligned before work begins. This is the operating reality MaintenaX is designed to make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MaintenaX changes the unit of work from an isolated record to an accountable flow. The planner can see the operating context, test an alternative when a technician drops out or a part must move between sites, and leave an explanation behind. The opportunity is decision support, not autonomous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lifecycle is deliberately connected. The Operational Core captures requests, coordinates work, and preserves the audit trail; Intelligence &amp; Copilot adds scenario estimates and explanations without replacing human control. The six lifecycle steps are supported by these two distinct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is deliberately human-controlled: MaintenaX validates the request, recommends options, compares alternatives, and simulates scenarios before a planner approves the path. The approved plan is executed and audited; no recommendation changes a real assignment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MaintenaX separates calculation from explanation and approval. The intelligence engine computes repair-time, compatibility, ripple, and SLA signals; Ollama explains the result in natural language, while a human decides whether to act. The stages are intentionally explicit so evaluators can see the control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keeps the prototype's boundaries legible: React + Vite presents the operator experience, FastAPI exposes the SQLite-backed API, the Intelligence Engine computes scenario estimates, and Ollama / Qwen 2.5 3B turns those results into natural-language explanations. This is a connected MVP path, not a claim of production-ready end-to-end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SR501, the prototype can simulate a T02 dropout, compare replacement options, and recommend recovery for human approval. A PUMP-12 shortage triggers a candidate-site transfer feasibility check. Neither scenario changes a real assignment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demonstrates workflow, scenario comparison, and audit-oriented decision support. Predictions and recommendations are scenario estimates, not measured production gains. We make no production-ready integration, GPS/IoT or blockchain, accuracy, savings, or autonomy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product promise: MaintenaX makes maintenance activity easier to coordinate, easier to understand, and easier to audit. The references distinguish the challenge, the technical foundation, and the repository-reported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3.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5050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50505"/>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maintena-x.vercel.app/"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maintena-x.vercel.app/" TargetMode="External"/><Relationship Id="rId2" Type="http://schemas.openxmlformats.org/officeDocument/2006/relationships/hyperlink" Target="https://github.com/shourya-dev7/MaintenaX" TargetMode="External"/><Relationship Id="rId3" Type="http://schemas.openxmlformats.org/officeDocument/2006/relationships/hyperlink" Target="https://react.dev/" TargetMode="External"/><Relationship Id="rId4" Type="http://schemas.openxmlformats.org/officeDocument/2006/relationships/hyperlink" Target="https://fastapi.tiangolo.com/" TargetMode="External"/><Relationship Id="rId5" Type="http://schemas.openxmlformats.org/officeDocument/2006/relationships/hyperlink" Target="https://www.sqlalchemy.org/" TargetMode="External"/><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8806" y="688022"/>
            <a:ext cx="7626159"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INTELLIGENT INDUSTRIAL MAINTENANCE MANAGEMENT</a:t>
            </a:r>
            <a:endParaRPr lang="en-US" sz="1100" dirty="0"/>
          </a:p>
        </p:txBody>
      </p:sp>
      <p:sp>
        <p:nvSpPr>
          <p:cNvPr id="3" name="Text 1"/>
          <p:cNvSpPr/>
          <p:nvPr/>
        </p:nvSpPr>
        <p:spPr>
          <a:xfrm>
            <a:off x="758806" y="1067522"/>
            <a:ext cx="7016574" cy="1002705"/>
          </a:xfrm>
          <a:prstGeom prst="rect">
            <a:avLst/>
          </a:prstGeom>
          <a:noFill/>
          <a:ln/>
        </p:spPr>
        <p:txBody>
          <a:bodyPr wrap="none" lIns="0" tIns="0" rIns="0" bIns="0" rtlCol="0" anchor="t"/>
          <a:lstStyle/>
          <a:p>
            <a:pPr algn="l" indent="0" marL="0">
              <a:lnSpc>
                <a:spcPct val="78000"/>
              </a:lnSpc>
              <a:buNone/>
            </a:pPr>
            <a:r>
              <a:rPr lang="en-US" sz="8400" b="1" spc="-336" kern="100" dirty="0">
                <a:solidFill>
                  <a:srgbClr val="FFFFFF"/>
                </a:solidFill>
                <a:latin typeface="MuseoModerno Bold" pitchFamily="34" charset="0"/>
                <a:ea typeface="MuseoModerno Bold" pitchFamily="34" charset="-122"/>
                <a:cs typeface="MuseoModerno Bold" pitchFamily="34" charset="-120"/>
              </a:rPr>
              <a:t>MaintenaX</a:t>
            </a:r>
            <a:endParaRPr lang="en-US" sz="8400" dirty="0"/>
          </a:p>
        </p:txBody>
      </p:sp>
      <p:sp>
        <p:nvSpPr>
          <p:cNvPr id="4" name="Text 2"/>
          <p:cNvSpPr/>
          <p:nvPr/>
        </p:nvSpPr>
        <p:spPr>
          <a:xfrm>
            <a:off x="758806" y="2147824"/>
            <a:ext cx="7626159"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FFFFFF"/>
                </a:solidFill>
                <a:latin typeface="Exo" pitchFamily="34" charset="0"/>
                <a:ea typeface="Exo" pitchFamily="34" charset="-122"/>
                <a:cs typeface="Exo" pitchFamily="34" charset="-120"/>
              </a:rPr>
              <a:t>A scenario-based MVP for coordinated, explainable maintenance decisions.</a:t>
            </a:r>
            <a:endParaRPr lang="en-US" sz="1100" dirty="0"/>
          </a:p>
        </p:txBody>
      </p:sp>
      <p:sp>
        <p:nvSpPr>
          <p:cNvPr id="5" name="Text 3"/>
          <p:cNvSpPr/>
          <p:nvPr/>
        </p:nvSpPr>
        <p:spPr>
          <a:xfrm>
            <a:off x="758806" y="2510671"/>
            <a:ext cx="2104972"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TEAM NAME</a:t>
            </a:r>
            <a:endParaRPr lang="en-US" sz="1100" dirty="0"/>
          </a:p>
        </p:txBody>
      </p:sp>
      <p:sp>
        <p:nvSpPr>
          <p:cNvPr id="6" name="Text 4"/>
          <p:cNvSpPr/>
          <p:nvPr/>
        </p:nvSpPr>
        <p:spPr>
          <a:xfrm>
            <a:off x="758806" y="2804319"/>
            <a:ext cx="2104972" cy="243384"/>
          </a:xfrm>
          <a:prstGeom prst="rect">
            <a:avLst/>
          </a:prstGeom>
          <a:noFill/>
          <a:ln/>
        </p:spPr>
        <p:txBody>
          <a:bodyPr wrap="none" lIns="0" tIns="0" rIns="0" bIns="0" rtlCol="0" anchor="t"/>
          <a:lstStyle/>
          <a:p>
            <a:pPr algn="l" indent="0" marL="0">
              <a:lnSpc>
                <a:spcPct val="118000"/>
              </a:lnSpc>
              <a:buNone/>
            </a:pPr>
            <a:r>
              <a:rPr lang="en-US" sz="1350" dirty="0">
                <a:solidFill>
                  <a:srgbClr val="FFFFFF"/>
                </a:solidFill>
                <a:latin typeface="Exo" pitchFamily="34" charset="0"/>
                <a:ea typeface="Exo" pitchFamily="34" charset="-122"/>
                <a:cs typeface="Exo" pitchFamily="34" charset="-120"/>
              </a:rPr>
              <a:t>404:NOT FOUND</a:t>
            </a:r>
            <a:endParaRPr lang="en-US" sz="1350" dirty="0"/>
          </a:p>
        </p:txBody>
      </p:sp>
      <p:sp>
        <p:nvSpPr>
          <p:cNvPr id="7" name="Text 5"/>
          <p:cNvSpPr/>
          <p:nvPr/>
        </p:nvSpPr>
        <p:spPr>
          <a:xfrm>
            <a:off x="3066973" y="2510671"/>
            <a:ext cx="1550949"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TEAM ID</a:t>
            </a:r>
            <a:endParaRPr lang="en-US" sz="1100" dirty="0"/>
          </a:p>
        </p:txBody>
      </p:sp>
      <p:sp>
        <p:nvSpPr>
          <p:cNvPr id="8" name="Text 6"/>
          <p:cNvSpPr/>
          <p:nvPr/>
        </p:nvSpPr>
        <p:spPr>
          <a:xfrm>
            <a:off x="3066973" y="2804319"/>
            <a:ext cx="1550949" cy="243384"/>
          </a:xfrm>
          <a:prstGeom prst="rect">
            <a:avLst/>
          </a:prstGeom>
          <a:noFill/>
          <a:ln/>
        </p:spPr>
        <p:txBody>
          <a:bodyPr wrap="none" lIns="0" tIns="0" rIns="0" bIns="0" rtlCol="0" anchor="t"/>
          <a:lstStyle/>
          <a:p>
            <a:pPr algn="l" indent="0" marL="0">
              <a:lnSpc>
                <a:spcPct val="118000"/>
              </a:lnSpc>
              <a:buNone/>
            </a:pPr>
            <a:r>
              <a:rPr lang="en-US" sz="1350" dirty="0">
                <a:solidFill>
                  <a:srgbClr val="FFFFFF"/>
                </a:solidFill>
                <a:latin typeface="Exo" pitchFamily="34" charset="0"/>
                <a:ea typeface="Exo" pitchFamily="34" charset="-122"/>
                <a:cs typeface="Exo" pitchFamily="34" charset="-120"/>
              </a:rPr>
              <a:t>DQ3-023</a:t>
            </a:r>
            <a:endParaRPr lang="en-US" sz="1350" dirty="0"/>
          </a:p>
        </p:txBody>
      </p:sp>
      <p:sp>
        <p:nvSpPr>
          <p:cNvPr id="9" name="Text 7"/>
          <p:cNvSpPr/>
          <p:nvPr/>
        </p:nvSpPr>
        <p:spPr>
          <a:xfrm>
            <a:off x="4821117" y="2510671"/>
            <a:ext cx="2954264"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PROBLEM STATEMENT</a:t>
            </a:r>
            <a:endParaRPr lang="en-US" sz="1100" dirty="0"/>
          </a:p>
        </p:txBody>
      </p:sp>
      <p:sp>
        <p:nvSpPr>
          <p:cNvPr id="10" name="Text 8"/>
          <p:cNvSpPr/>
          <p:nvPr/>
        </p:nvSpPr>
        <p:spPr>
          <a:xfrm>
            <a:off x="4821117" y="2804319"/>
            <a:ext cx="2954264" cy="243384"/>
          </a:xfrm>
          <a:prstGeom prst="rect">
            <a:avLst/>
          </a:prstGeom>
          <a:noFill/>
          <a:ln/>
        </p:spPr>
        <p:txBody>
          <a:bodyPr wrap="none" lIns="0" tIns="0" rIns="0" bIns="0" rtlCol="0" anchor="t"/>
          <a:lstStyle/>
          <a:p>
            <a:pPr algn="l" indent="0" marL="0">
              <a:lnSpc>
                <a:spcPct val="118000"/>
              </a:lnSpc>
              <a:buNone/>
            </a:pPr>
            <a:r>
              <a:rPr lang="en-US" sz="1350" dirty="0">
                <a:solidFill>
                  <a:srgbClr val="FFFFFF"/>
                </a:solidFill>
                <a:latin typeface="Exo" pitchFamily="34" charset="0"/>
                <a:ea typeface="Exo" pitchFamily="34" charset="-122"/>
                <a:cs typeface="Exo" pitchFamily="34" charset="-120"/>
              </a:rPr>
              <a:t>DQBH</a:t>
            </a:r>
            <a:endParaRPr lang="en-US" sz="1350" dirty="0"/>
          </a:p>
        </p:txBody>
      </p:sp>
      <p:sp>
        <p:nvSpPr>
          <p:cNvPr id="11" name="Text 9"/>
          <p:cNvSpPr/>
          <p:nvPr/>
        </p:nvSpPr>
        <p:spPr>
          <a:xfrm>
            <a:off x="758806" y="3384252"/>
            <a:ext cx="7016574" cy="419100"/>
          </a:xfrm>
          <a:prstGeom prst="rect">
            <a:avLst/>
          </a:prstGeom>
          <a:noFill/>
          <a:ln/>
        </p:spPr>
        <p:txBody>
          <a:bodyPr wrap="none" lIns="0" tIns="0" rIns="0" bIns="0" rtlCol="0" anchor="t"/>
          <a:lstStyle/>
          <a:p>
            <a:pPr algn="l" indent="0" marL="0">
              <a:lnSpc>
                <a:spcPct val="110000"/>
              </a:lnSpc>
              <a:buNone/>
            </a:pPr>
            <a:r>
              <a:rPr lang="en-US" sz="2500" dirty="0">
                <a:solidFill>
                  <a:srgbClr val="FFFFFF"/>
                </a:solidFill>
                <a:latin typeface="Exo" pitchFamily="34" charset="0"/>
                <a:ea typeface="Exo" pitchFamily="34" charset="-122"/>
                <a:cs typeface="Exo" pitchFamily="34" charset="-120"/>
              </a:rPr>
              <a:t>Team Members</a:t>
            </a:r>
            <a:endParaRPr lang="en-US" sz="25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58806" y="3946227"/>
          <a:ext cx="7016575" cy="914400"/>
        </p:xfrm>
        <a:graphic>
          <a:graphicData uri="http://schemas.openxmlformats.org/drawingml/2006/table">
            <a:tbl>
              <a:tblPr/>
              <a:tblGrid>
                <a:gridCol w="4069554"/>
                <a:gridCol w="2947021"/>
              </a:tblGrid>
              <a:tr h="429210">
                <a:tc>
                  <a:txBody>
                    <a:bodyPr/>
                    <a:lstStyle/>
                    <a:p>
                      <a:pPr algn="l" indent="0" marL="0">
                        <a:buNone/>
                      </a:pPr>
                      <a:r>
                        <a:rPr lang="en-US" sz="1500" dirty="0">
                          <a:solidFill>
                            <a:srgbClr val="FFFFFF"/>
                          </a:solidFill>
                          <a:latin typeface="Exo" pitchFamily="34" charset="0"/>
                          <a:ea typeface="Exo" pitchFamily="34" charset="-122"/>
                          <a:cs typeface="Exo" pitchFamily="34" charset="-120"/>
                        </a:rPr>
                        <a:t>Name</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FFFFFF"/>
                          </a:solidFill>
                          <a:latin typeface="Exo" pitchFamily="34" charset="0"/>
                          <a:ea typeface="Exo" pitchFamily="34" charset="-122"/>
                          <a:cs typeface="Exo" pitchFamily="34" charset="-120"/>
                        </a:rPr>
                        <a:t>Registration No.</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9210">
                <a:tc>
                  <a:txBody>
                    <a:bodyPr/>
                    <a:lstStyle/>
                    <a:p>
                      <a:pPr algn="l" indent="0" marL="0">
                        <a:buNone/>
                      </a:pPr>
                      <a:r>
                        <a:rPr lang="en-US" sz="1500" dirty="0">
                          <a:solidFill>
                            <a:srgbClr val="FFFFFF"/>
                          </a:solidFill>
                          <a:latin typeface="Exo" pitchFamily="34" charset="0"/>
                          <a:ea typeface="Exo" pitchFamily="34" charset="-122"/>
                          <a:cs typeface="Exo" pitchFamily="34" charset="-120"/>
                        </a:rPr>
                        <a:t>Sonhita Ghose</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FFFFFF"/>
                          </a:solidFill>
                          <a:latin typeface="Exo" pitchFamily="34" charset="0"/>
                          <a:ea typeface="Exo" pitchFamily="34" charset="-122"/>
                          <a:cs typeface="Exo" pitchFamily="34" charset="-120"/>
                        </a:rPr>
                        <a:t>26BEC1406</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9210">
                <a:tc>
                  <a:txBody>
                    <a:bodyPr/>
                    <a:lstStyle/>
                    <a:p>
                      <a:pPr algn="l" indent="0" marL="0">
                        <a:buNone/>
                      </a:pPr>
                      <a:r>
                        <a:rPr lang="en-US" sz="1500" dirty="0">
                          <a:solidFill>
                            <a:srgbClr val="FFFFFF"/>
                          </a:solidFill>
                          <a:latin typeface="Exo" pitchFamily="34" charset="0"/>
                          <a:ea typeface="Exo" pitchFamily="34" charset="-122"/>
                          <a:cs typeface="Exo" pitchFamily="34" charset="-120"/>
                        </a:rPr>
                        <a:t>Kinjal Sarkar</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FFFFFF"/>
                          </a:solidFill>
                          <a:latin typeface="Exo" pitchFamily="34" charset="0"/>
                          <a:ea typeface="Exo" pitchFamily="34" charset="-122"/>
                          <a:cs typeface="Exo" pitchFamily="34" charset="-120"/>
                        </a:rPr>
                        <a:t>26BCE1313</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9210">
                <a:tc>
                  <a:txBody>
                    <a:bodyPr/>
                    <a:lstStyle/>
                    <a:p>
                      <a:pPr algn="l" indent="0" marL="0">
                        <a:buNone/>
                      </a:pPr>
                      <a:r>
                        <a:rPr lang="en-US" sz="1500" dirty="0">
                          <a:solidFill>
                            <a:srgbClr val="FFFFFF"/>
                          </a:solidFill>
                          <a:latin typeface="Exo" pitchFamily="34" charset="0"/>
                          <a:ea typeface="Exo" pitchFamily="34" charset="-122"/>
                          <a:cs typeface="Exo" pitchFamily="34" charset="-120"/>
                        </a:rPr>
                        <a:t>Aishani Basu</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FFFFFF"/>
                          </a:solidFill>
                          <a:latin typeface="Exo" pitchFamily="34" charset="0"/>
                          <a:ea typeface="Exo" pitchFamily="34" charset="-122"/>
                          <a:cs typeface="Exo" pitchFamily="34" charset="-120"/>
                        </a:rPr>
                        <a:t>26BCE1366</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2860">
                <a:tc>
                  <a:txBody>
                    <a:bodyPr/>
                    <a:lstStyle/>
                    <a:p>
                      <a:pPr algn="l" indent="0" marL="0">
                        <a:buNone/>
                      </a:pPr>
                      <a:r>
                        <a:rPr lang="en-US" sz="1500" dirty="0">
                          <a:solidFill>
                            <a:srgbClr val="FFFFFF"/>
                          </a:solidFill>
                          <a:latin typeface="Exo" pitchFamily="34" charset="0"/>
                          <a:ea typeface="Exo" pitchFamily="34" charset="-122"/>
                          <a:cs typeface="Exo" pitchFamily="34" charset="-120"/>
                        </a:rPr>
                        <a:t>Shourya Kumar Gupta</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500" dirty="0">
                          <a:solidFill>
                            <a:srgbClr val="FFFFFF"/>
                          </a:solidFill>
                          <a:latin typeface="Exo" pitchFamily="34" charset="0"/>
                          <a:ea typeface="Exo" pitchFamily="34" charset="-122"/>
                          <a:cs typeface="Exo" pitchFamily="34" charset="-120"/>
                        </a:rPr>
                        <a:t>26BCE1304</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r>
            </a:tbl>
          </a:graphicData>
        </a:graphic>
      </p:graphicFrame>
      <p:sp>
        <p:nvSpPr>
          <p:cNvPr id="13" name="Text 10"/>
          <p:cNvSpPr/>
          <p:nvPr/>
        </p:nvSpPr>
        <p:spPr>
          <a:xfrm>
            <a:off x="758806" y="6263779"/>
            <a:ext cx="7626159" cy="270470"/>
          </a:xfrm>
          <a:prstGeom prst="rect">
            <a:avLst/>
          </a:prstGeom>
          <a:noFill/>
          <a:ln/>
        </p:spPr>
        <p:txBody>
          <a:bodyPr wrap="none" lIns="0" tIns="0" rIns="0" bIns="0" rtlCol="0" anchor="t"/>
          <a:lstStyle/>
          <a:p>
            <a:pPr algn="l" indent="0" marL="0">
              <a:lnSpc>
                <a:spcPct val="118000"/>
              </a:lnSpc>
              <a:buNone/>
            </a:pPr>
            <a:r>
              <a:rPr lang="en-US" sz="1500" b="1" u="sng" dirty="0">
                <a:solidFill>
                  <a:srgbClr val="9BE1FF"/>
                </a:solidFill>
                <a:latin typeface="Exo Bold" pitchFamily="34" charset="0"/>
                <a:ea typeface="Exo Bold" pitchFamily="34" charset="-122"/>
                <a:cs typeface="Exo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Live Demo</a:t>
            </a:r>
            <a:endParaRPr lang="en-US" sz="1500" dirty="0"/>
          </a:p>
        </p:txBody>
      </p:sp>
      <p:sp>
        <p:nvSpPr>
          <p:cNvPr id="14" name="Shape 11"/>
          <p:cNvSpPr/>
          <p:nvPr/>
        </p:nvSpPr>
        <p:spPr>
          <a:xfrm>
            <a:off x="2857429" y="2508448"/>
            <a:ext cx="12700" cy="539254"/>
          </a:xfrm>
          <a:prstGeom prst="rect">
            <a:avLst/>
          </a:prstGeom>
          <a:solidFill>
            <a:srgbClr val="3F3F3F"/>
          </a:solidFill>
          <a:ln/>
        </p:spPr>
      </p:sp>
      <p:sp>
        <p:nvSpPr>
          <p:cNvPr id="15" name="Shape 12"/>
          <p:cNvSpPr/>
          <p:nvPr/>
        </p:nvSpPr>
        <p:spPr>
          <a:xfrm>
            <a:off x="4611572" y="2508448"/>
            <a:ext cx="12700" cy="539254"/>
          </a:xfrm>
          <a:prstGeom prst="rect">
            <a:avLst/>
          </a:prstGeom>
          <a:solidFill>
            <a:srgbClr val="3F3F3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18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THE OPERATING REALITY</a:t>
            </a:r>
            <a:endParaRPr lang="en-US" sz="1100" dirty="0"/>
          </a:p>
        </p:txBody>
      </p:sp>
      <p:sp>
        <p:nvSpPr>
          <p:cNvPr id="3" name="Text 1"/>
          <p:cNvSpPr/>
          <p:nvPr/>
        </p:nvSpPr>
        <p:spPr>
          <a:xfrm>
            <a:off x="609585" y="911566"/>
            <a:ext cx="10972526" cy="1195784"/>
          </a:xfrm>
          <a:prstGeom prst="rect">
            <a:avLst/>
          </a:prstGeom>
          <a:noFill/>
          <a:ln/>
        </p:spPr>
        <p:txBody>
          <a:bodyPr wrap="square" lIns="0" tIns="0" rIns="0" bIns="0" rtlCol="0" anchor="t">
            <a:normAutofit/>
          </a:bodyPr>
          <a:lstStyle/>
          <a:p>
            <a:pPr algn="l" indent="0" marL="0">
              <a:lnSpc>
                <a:spcPct val="89000"/>
              </a:lnSpc>
              <a:buNone/>
            </a:pPr>
            <a:r>
              <a:rPr lang="en-US" sz="4400" spc="-53" kern="100" dirty="0">
                <a:solidFill>
                  <a:srgbClr val="ECECEC"/>
                </a:solidFill>
                <a:latin typeface="Exo SemiBold" pitchFamily="34" charset="0"/>
                <a:ea typeface="Exo SemiBold" pitchFamily="34" charset="-122"/>
                <a:cs typeface="Exo SemiBold" pitchFamily="34" charset="-120"/>
              </a:rPr>
              <a:t>Maintenance is a coordination problem before it is a repair</a:t>
            </a:r>
            <a:endParaRPr lang="en-US" sz="4400" dirty="0"/>
          </a:p>
        </p:txBody>
      </p:sp>
      <p:sp>
        <p:nvSpPr>
          <p:cNvPr id="4" name="Shape 2"/>
          <p:cNvSpPr/>
          <p:nvPr/>
        </p:nvSpPr>
        <p:spPr>
          <a:xfrm>
            <a:off x="609585" y="2309217"/>
            <a:ext cx="2743131" cy="31651"/>
          </a:xfrm>
          <a:prstGeom prst="roundRect">
            <a:avLst>
              <a:gd name="adj" fmla="val 49998"/>
            </a:avLst>
          </a:prstGeom>
          <a:solidFill>
            <a:srgbClr val="9BE1FF"/>
          </a:solidFill>
          <a:ln/>
        </p:spPr>
      </p:sp>
      <p:sp>
        <p:nvSpPr>
          <p:cNvPr id="5" name="Text 3"/>
          <p:cNvSpPr/>
          <p:nvPr/>
        </p:nvSpPr>
        <p:spPr>
          <a:xfrm>
            <a:off x="895328" y="2641005"/>
            <a:ext cx="11296367"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“Maintenance is not just about fixing machines — it is about coordinating activities.”</a:t>
            </a:r>
            <a:endParaRPr lang="en-US" sz="1500" dirty="0"/>
          </a:p>
        </p:txBody>
      </p:sp>
      <p:sp>
        <p:nvSpPr>
          <p:cNvPr id="6" name="Shape 4"/>
          <p:cNvSpPr/>
          <p:nvPr/>
        </p:nvSpPr>
        <p:spPr>
          <a:xfrm>
            <a:off x="609585" y="2564805"/>
            <a:ext cx="28574" cy="422870"/>
          </a:xfrm>
          <a:prstGeom prst="roundRect">
            <a:avLst>
              <a:gd name="adj" fmla="val 50000"/>
            </a:avLst>
          </a:prstGeom>
          <a:solidFill>
            <a:srgbClr val="9BE1FF"/>
          </a:solidFill>
          <a:ln/>
        </p:spPr>
      </p:sp>
      <p:sp>
        <p:nvSpPr>
          <p:cNvPr id="7" name="Text 5"/>
          <p:cNvSpPr/>
          <p:nvPr/>
        </p:nvSpPr>
        <p:spPr>
          <a:xfrm>
            <a:off x="609585" y="3165475"/>
            <a:ext cx="11582110"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The work succeeds only when context, people, timing, resources, and decisions stay aligned.</a:t>
            </a:r>
            <a:endParaRPr lang="en-US" sz="1500" dirty="0"/>
          </a:p>
        </p:txBody>
      </p:sp>
      <p:pic>
        <p:nvPicPr>
          <p:cNvPr id="8" name="Image 0" descr="preencoded.png">    </p:cNvPr>
          <p:cNvPicPr>
            <a:picLocks noChangeAspect="1"/>
          </p:cNvPicPr>
          <p:nvPr/>
        </p:nvPicPr>
        <p:blipFill>
          <a:blip r:embed="rId1"/>
          <a:stretch>
            <a:fillRect/>
          </a:stretch>
        </p:blipFill>
        <p:spPr>
          <a:xfrm>
            <a:off x="634984" y="3613733"/>
            <a:ext cx="380990" cy="381000"/>
          </a:xfrm>
          <a:prstGeom prst="rect">
            <a:avLst/>
          </a:prstGeom>
        </p:spPr>
      </p:pic>
      <p:sp>
        <p:nvSpPr>
          <p:cNvPr id="9" name="Text 6"/>
          <p:cNvSpPr/>
          <p:nvPr/>
        </p:nvSpPr>
        <p:spPr>
          <a:xfrm>
            <a:off x="1219170" y="3635653"/>
            <a:ext cx="10362941"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MANY MOVING PARTS</a:t>
            </a:r>
            <a:endParaRPr lang="en-US" sz="1200" dirty="0"/>
          </a:p>
        </p:txBody>
      </p:sp>
      <p:sp>
        <p:nvSpPr>
          <p:cNvPr id="10" name="Text 7"/>
          <p:cNvSpPr/>
          <p:nvPr/>
        </p:nvSpPr>
        <p:spPr>
          <a:xfrm>
            <a:off x="1219170" y="3954661"/>
            <a:ext cx="10362941"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Assets, work orders, technicians, skills, schedules, priorities, parts, dependencies, execution status, and history must line up.</a:t>
            </a:r>
            <a:endParaRPr lang="en-US" sz="1500" dirty="0"/>
          </a:p>
        </p:txBody>
      </p:sp>
      <p:pic>
        <p:nvPicPr>
          <p:cNvPr id="11" name="Image 1" descr="preencoded.png">    </p:cNvPr>
          <p:cNvPicPr>
            <a:picLocks noChangeAspect="1"/>
          </p:cNvPicPr>
          <p:nvPr/>
        </p:nvPicPr>
        <p:blipFill>
          <a:blip r:embed="rId2"/>
          <a:stretch>
            <a:fillRect/>
          </a:stretch>
        </p:blipFill>
        <p:spPr>
          <a:xfrm>
            <a:off x="634984" y="4851190"/>
            <a:ext cx="380990" cy="381000"/>
          </a:xfrm>
          <a:prstGeom prst="rect">
            <a:avLst/>
          </a:prstGeom>
        </p:spPr>
      </p:pic>
      <p:sp>
        <p:nvSpPr>
          <p:cNvPr id="12" name="Text 8"/>
          <p:cNvSpPr/>
          <p:nvPr/>
        </p:nvSpPr>
        <p:spPr>
          <a:xfrm>
            <a:off x="1219170" y="4873109"/>
            <a:ext cx="10362941"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LOW EARLY VISIBILITY</a:t>
            </a:r>
            <a:endParaRPr lang="en-US" sz="1200" dirty="0"/>
          </a:p>
        </p:txBody>
      </p:sp>
      <p:sp>
        <p:nvSpPr>
          <p:cNvPr id="13" name="Text 9"/>
          <p:cNvSpPr/>
          <p:nvPr/>
        </p:nvSpPr>
        <p:spPr>
          <a:xfrm>
            <a:off x="1219170" y="5192117"/>
            <a:ext cx="10362941"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Fragmented tools make clashes, work progress, and decisions hard to see early.</a:t>
            </a:r>
            <a:endParaRPr lang="en-US" sz="1500" dirty="0"/>
          </a:p>
        </p:txBody>
      </p:sp>
      <p:sp>
        <p:nvSpPr>
          <p:cNvPr id="14" name="Text 10"/>
          <p:cNvSpPr/>
          <p:nvPr/>
        </p:nvSpPr>
        <p:spPr>
          <a:xfrm>
            <a:off x="609585" y="5642610"/>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IMPLICATION</a:t>
            </a:r>
            <a:endParaRPr lang="en-US" sz="1100" dirty="0"/>
          </a:p>
        </p:txBody>
      </p:sp>
      <p:sp>
        <p:nvSpPr>
          <p:cNvPr id="15" name="Text 11"/>
          <p:cNvSpPr/>
          <p:nvPr/>
        </p:nvSpPr>
        <p:spPr>
          <a:xfrm>
            <a:off x="609585" y="5999758"/>
            <a:ext cx="11582110"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Without one operational view, the cost of a late change is harder to predict, explain, and recover from.</a:t>
            </a:r>
            <a:endParaRPr lang="en-US" sz="1500" dirty="0"/>
          </a:p>
        </p:txBody>
      </p:sp>
      <p:sp>
        <p:nvSpPr>
          <p:cNvPr id="16" name="Text 12"/>
          <p:cNvSpPr/>
          <p:nvPr/>
        </p:nvSpPr>
        <p:spPr>
          <a:xfrm>
            <a:off x="609585" y="6450251"/>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404: NOT FOUND • DQ3-023 • DQBH</a:t>
            </a:r>
            <a:endParaRPr lang="en-US" sz="1100" dirty="0"/>
          </a:p>
        </p:txBody>
      </p:sp>
      <p:sp>
        <p:nvSpPr>
          <p:cNvPr id="17" name="Shape 13"/>
          <p:cNvSpPr/>
          <p:nvPr/>
        </p:nvSpPr>
        <p:spPr>
          <a:xfrm>
            <a:off x="609585" y="4667052"/>
            <a:ext cx="10972526" cy="12700"/>
          </a:xfrm>
          <a:prstGeom prst="rect">
            <a:avLst/>
          </a:prstGeom>
          <a:solidFill>
            <a:srgbClr val="3F3F3F"/>
          </a:solidFill>
          <a:ln/>
        </p:spPr>
      </p:sp>
      <p:sp>
        <p:nvSpPr>
          <p:cNvPr id="18" name="Text 14"/>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75121"/>
          </a:xfrm>
          <a:prstGeom prst="rect">
            <a:avLst/>
          </a:prstGeom>
          <a:noFill/>
          <a:ln/>
        </p:spPr>
        <p:txBody>
          <a:bodyPr wrap="none" lIns="0" tIns="0" rIns="0" bIns="0" rtlCol="0" anchor="t"/>
          <a:lstStyle/>
          <a:p>
            <a:pPr algn="l" indent="0" marL="0">
              <a:lnSpc>
                <a:spcPct val="108000"/>
              </a:lnSpc>
              <a:buNone/>
            </a:pPr>
            <a:r>
              <a:rPr lang="en-US" sz="1050" spc="90" kern="100" dirty="0">
                <a:solidFill>
                  <a:srgbClr val="B5B5B5"/>
                </a:solidFill>
                <a:latin typeface="Fira Mono Medium" pitchFamily="34" charset="0"/>
                <a:ea typeface="Fira Mono Medium" pitchFamily="34" charset="-122"/>
                <a:cs typeface="Fira Mono Medium" pitchFamily="34" charset="-120"/>
              </a:rPr>
              <a:t>THE GAP</a:t>
            </a:r>
            <a:endParaRPr lang="en-US" sz="1050" dirty="0"/>
          </a:p>
        </p:txBody>
      </p:sp>
      <p:sp>
        <p:nvSpPr>
          <p:cNvPr id="3" name="Text 1"/>
          <p:cNvSpPr/>
          <p:nvPr/>
        </p:nvSpPr>
        <p:spPr>
          <a:xfrm>
            <a:off x="609585" y="886968"/>
            <a:ext cx="10972526" cy="838398"/>
          </a:xfrm>
          <a:prstGeom prst="rect">
            <a:avLst/>
          </a:prstGeom>
          <a:noFill/>
          <a:ln/>
        </p:spPr>
        <p:txBody>
          <a:bodyPr wrap="square" lIns="0" tIns="0" rIns="0" bIns="0" rtlCol="0" anchor="t">
            <a:normAutofit/>
          </a:bodyPr>
          <a:lstStyle/>
          <a:p>
            <a:pPr algn="l" indent="0" marL="0">
              <a:lnSpc>
                <a:spcPct val="89000"/>
              </a:lnSpc>
              <a:buNone/>
            </a:pPr>
            <a:r>
              <a:rPr lang="en-US" sz="3100" spc="-37" kern="100" dirty="0">
                <a:solidFill>
                  <a:srgbClr val="ECECEC"/>
                </a:solidFill>
                <a:latin typeface="Exo SemiBold" pitchFamily="34" charset="0"/>
                <a:ea typeface="Exo SemiBold" pitchFamily="34" charset="-122"/>
                <a:cs typeface="Exo SemiBold" pitchFamily="34" charset="-120"/>
              </a:rPr>
              <a:t>DQBH’s challenge is to replace fragmentation with one accountable workflow</a:t>
            </a:r>
            <a:endParaRPr lang="en-US" sz="3100" dirty="0"/>
          </a:p>
        </p:txBody>
      </p:sp>
      <p:sp>
        <p:nvSpPr>
          <p:cNvPr id="4" name="Shape 2"/>
          <p:cNvSpPr/>
          <p:nvPr/>
        </p:nvSpPr>
        <p:spPr>
          <a:xfrm>
            <a:off x="609585" y="1925637"/>
            <a:ext cx="2743131" cy="19050"/>
          </a:xfrm>
          <a:prstGeom prst="roundRect">
            <a:avLst>
              <a:gd name="adj" fmla="val 49999"/>
            </a:avLst>
          </a:prstGeom>
          <a:solidFill>
            <a:srgbClr val="9BE1FF"/>
          </a:solidFill>
          <a:ln/>
        </p:spPr>
      </p:sp>
      <p:sp>
        <p:nvSpPr>
          <p:cNvPr id="5" name="Shape 3"/>
          <p:cNvSpPr/>
          <p:nvPr/>
        </p:nvSpPr>
        <p:spPr>
          <a:xfrm>
            <a:off x="609585" y="2155825"/>
            <a:ext cx="5333867" cy="2840137"/>
          </a:xfrm>
          <a:prstGeom prst="rect">
            <a:avLst/>
          </a:prstGeom>
          <a:solidFill>
            <a:srgbClr val="0E1F40"/>
          </a:solidFill>
          <a:ln/>
        </p:spPr>
      </p:sp>
      <p:sp>
        <p:nvSpPr>
          <p:cNvPr id="6" name="Text 4"/>
          <p:cNvSpPr/>
          <p:nvPr/>
        </p:nvSpPr>
        <p:spPr>
          <a:xfrm>
            <a:off x="838179" y="2384045"/>
            <a:ext cx="3415818" cy="183654"/>
          </a:xfrm>
          <a:prstGeom prst="rect">
            <a:avLst/>
          </a:prstGeom>
          <a:noFill/>
          <a:ln/>
        </p:spPr>
        <p:txBody>
          <a:bodyPr wrap="none" lIns="0" tIns="0" rIns="0" bIns="0" rtlCol="0" anchor="t"/>
          <a:lstStyle/>
          <a:p>
            <a:pPr algn="l" indent="0" marL="0">
              <a:lnSpc>
                <a:spcPct val="104000"/>
              </a:lnSpc>
              <a:buNone/>
            </a:pPr>
            <a:r>
              <a:rPr lang="en-US" sz="1150" spc="185" kern="100" dirty="0">
                <a:solidFill>
                  <a:srgbClr val="DADADA"/>
                </a:solidFill>
                <a:latin typeface="Michroma" pitchFamily="34" charset="0"/>
                <a:ea typeface="Michroma" pitchFamily="34" charset="-122"/>
                <a:cs typeface="Michroma" pitchFamily="34" charset="-120"/>
              </a:rPr>
              <a:t>TODAY · FRAGMENTED</a:t>
            </a:r>
            <a:endParaRPr lang="en-US" sz="1150" dirty="0"/>
          </a:p>
        </p:txBody>
      </p:sp>
      <p:sp>
        <p:nvSpPr>
          <p:cNvPr id="7" name="Text 5"/>
          <p:cNvSpPr/>
          <p:nvPr/>
        </p:nvSpPr>
        <p:spPr>
          <a:xfrm>
            <a:off x="838179" y="2675731"/>
            <a:ext cx="4876678" cy="404118"/>
          </a:xfrm>
          <a:prstGeom prst="rect">
            <a:avLst/>
          </a:prstGeom>
          <a:noFill/>
          <a:ln/>
        </p:spPr>
        <p:txBody>
          <a:bodyPr wrap="none" lIns="0" tIns="0" rIns="0" bIns="0" rtlCol="0" anchor="t"/>
          <a:lstStyle/>
          <a:p>
            <a:pPr algn="l" indent="0" marL="0">
              <a:lnSpc>
                <a:spcPct val="110000"/>
              </a:lnSpc>
              <a:buNone/>
            </a:pPr>
            <a:r>
              <a:rPr lang="en-US" sz="2400" dirty="0">
                <a:solidFill>
                  <a:srgbClr val="D5D5D5"/>
                </a:solidFill>
                <a:latin typeface="Exo" pitchFamily="34" charset="0"/>
                <a:ea typeface="Exo" pitchFamily="34" charset="-122"/>
                <a:cs typeface="Exo" pitchFamily="34" charset="-120"/>
              </a:rPr>
              <a:t>Context is distributed</a:t>
            </a:r>
            <a:endParaRPr lang="en-US" sz="2400" dirty="0"/>
          </a:p>
        </p:txBody>
      </p:sp>
      <p:sp>
        <p:nvSpPr>
          <p:cNvPr id="8" name="Text 6"/>
          <p:cNvSpPr/>
          <p:nvPr/>
        </p:nvSpPr>
        <p:spPr>
          <a:xfrm>
            <a:off x="838179" y="3212604"/>
            <a:ext cx="4876678" cy="1327646"/>
          </a:xfrm>
          <a:prstGeom prst="rect">
            <a:avLst/>
          </a:prstGeom>
          <a:noFill/>
          <a:ln/>
        </p:spPr>
        <p:txBody>
          <a:bodyPr wrap="square" lIns="0" tIns="0" rIns="0" bIns="0" rtlCol="0" anchor="t">
            <a:normAutofit/>
          </a:bodyPr>
          <a:lstStyle/>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Fragmented data:</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activities, assets, resources, and schedules lack one operational view.</a:t>
            </a:r>
            <a:endParaRPr lang="en-US" sz="1450" dirty="0"/>
          </a:p>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Conflicts and traceability:</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overlapping assignments and resource contention disrupt work, while teams still need to know what changed, when, and why.</a:t>
            </a:r>
            <a:endParaRPr lang="en-US" sz="1450" dirty="0"/>
          </a:p>
        </p:txBody>
      </p:sp>
      <p:sp>
        <p:nvSpPr>
          <p:cNvPr id="9" name="Shape 7"/>
          <p:cNvSpPr/>
          <p:nvPr/>
        </p:nvSpPr>
        <p:spPr>
          <a:xfrm>
            <a:off x="6248244" y="2155825"/>
            <a:ext cx="5333867" cy="2840137"/>
          </a:xfrm>
          <a:prstGeom prst="rect">
            <a:avLst/>
          </a:prstGeom>
          <a:solidFill>
            <a:srgbClr val="07303A"/>
          </a:solidFill>
          <a:ln/>
        </p:spPr>
      </p:sp>
      <p:sp>
        <p:nvSpPr>
          <p:cNvPr id="10" name="Text 8"/>
          <p:cNvSpPr/>
          <p:nvPr/>
        </p:nvSpPr>
        <p:spPr>
          <a:xfrm>
            <a:off x="6476838" y="2384045"/>
            <a:ext cx="5105272" cy="183654"/>
          </a:xfrm>
          <a:prstGeom prst="rect">
            <a:avLst/>
          </a:prstGeom>
          <a:noFill/>
          <a:ln/>
        </p:spPr>
        <p:txBody>
          <a:bodyPr wrap="none" lIns="0" tIns="0" rIns="0" bIns="0" rtlCol="0" anchor="t"/>
          <a:lstStyle/>
          <a:p>
            <a:pPr algn="l" indent="0" marL="0">
              <a:lnSpc>
                <a:spcPct val="104000"/>
              </a:lnSpc>
              <a:buNone/>
            </a:pPr>
            <a:r>
              <a:rPr lang="en-US" sz="1150" spc="185" kern="100" dirty="0">
                <a:solidFill>
                  <a:srgbClr val="DADADA"/>
                </a:solidFill>
                <a:latin typeface="Michroma" pitchFamily="34" charset="0"/>
                <a:ea typeface="Michroma" pitchFamily="34" charset="-122"/>
                <a:cs typeface="Michroma" pitchFamily="34" charset="-120"/>
              </a:rPr>
              <a:t>INTELLIGENT ACTIVITY MANAGEMENT</a:t>
            </a:r>
            <a:endParaRPr lang="en-US" sz="1150" dirty="0"/>
          </a:p>
        </p:txBody>
      </p:sp>
      <p:sp>
        <p:nvSpPr>
          <p:cNvPr id="11" name="Text 9"/>
          <p:cNvSpPr/>
          <p:nvPr/>
        </p:nvSpPr>
        <p:spPr>
          <a:xfrm>
            <a:off x="6476838" y="2675731"/>
            <a:ext cx="4876678" cy="404118"/>
          </a:xfrm>
          <a:prstGeom prst="rect">
            <a:avLst/>
          </a:prstGeom>
          <a:noFill/>
          <a:ln/>
        </p:spPr>
        <p:txBody>
          <a:bodyPr wrap="none" lIns="0" tIns="0" rIns="0" bIns="0" rtlCol="0" anchor="t"/>
          <a:lstStyle/>
          <a:p>
            <a:pPr algn="l" indent="0" marL="0">
              <a:lnSpc>
                <a:spcPct val="110000"/>
              </a:lnSpc>
              <a:buNone/>
            </a:pPr>
            <a:r>
              <a:rPr lang="en-US" sz="2400" dirty="0">
                <a:solidFill>
                  <a:srgbClr val="FFFFFF"/>
                </a:solidFill>
                <a:latin typeface="Exo" pitchFamily="34" charset="0"/>
                <a:ea typeface="Exo" pitchFamily="34" charset="-122"/>
                <a:cs typeface="Exo" pitchFamily="34" charset="-120"/>
              </a:rPr>
              <a:t>Make the next decision explainable</a:t>
            </a:r>
            <a:endParaRPr lang="en-US" sz="2400" dirty="0"/>
          </a:p>
        </p:txBody>
      </p:sp>
      <p:sp>
        <p:nvSpPr>
          <p:cNvPr id="12" name="Text 10"/>
          <p:cNvSpPr/>
          <p:nvPr/>
        </p:nvSpPr>
        <p:spPr>
          <a:xfrm>
            <a:off x="6476838" y="3212604"/>
            <a:ext cx="4876678" cy="1630958"/>
          </a:xfrm>
          <a:prstGeom prst="rect">
            <a:avLst/>
          </a:prstGeom>
          <a:noFill/>
          <a:ln/>
        </p:spPr>
        <p:txBody>
          <a:bodyPr wrap="square" lIns="0" tIns="0" rIns="0" bIns="0" rtlCol="0" anchor="t">
            <a:normAutofit/>
          </a:bodyPr>
          <a:lstStyle/>
          <a:p>
            <a:pPr algn="l" marL="294640" indent="-294640">
              <a:lnSpc>
                <a:spcPct val="116000"/>
              </a:lnSpc>
              <a:buSzPct val="100000"/>
              <a:buChar char="•"/>
            </a:pPr>
            <a:r>
              <a:rPr lang="en-US" sz="1450" dirty="0">
                <a:solidFill>
                  <a:srgbClr val="FFFFFF"/>
                </a:solidFill>
                <a:latin typeface="Exo" pitchFamily="34" charset="0"/>
                <a:ea typeface="Exo" pitchFamily="34" charset="-122"/>
                <a:cs typeface="Exo" pitchFamily="34" charset="-120"/>
              </a:rPr>
              <a:t>Who should do the task—and why was this technician recommended?</a:t>
            </a:r>
            <a:endParaRPr lang="en-US" sz="1450" dirty="0"/>
          </a:p>
          <a:p>
            <a:pPr algn="l" marL="294640" indent="-294640">
              <a:lnSpc>
                <a:spcPct val="116000"/>
              </a:lnSpc>
              <a:buSzPct val="100000"/>
              <a:buChar char="•"/>
            </a:pPr>
            <a:r>
              <a:rPr lang="en-US" sz="1450" dirty="0">
                <a:solidFill>
                  <a:srgbClr val="FFFFFF"/>
                </a:solidFill>
                <a:latin typeface="Exo" pitchFamily="34" charset="0"/>
                <a:ea typeface="Exo" pitchFamily="34" charset="-122"/>
                <a:cs typeface="Exo" pitchFamily="34" charset="-120"/>
              </a:rPr>
              <a:t>What happens if a technician drops out, and which recovery path protects the SLA?</a:t>
            </a:r>
            <a:endParaRPr lang="en-US" sz="1450" dirty="0"/>
          </a:p>
          <a:p>
            <a:pPr algn="l" marL="294640" indent="-294640">
              <a:lnSpc>
                <a:spcPct val="116000"/>
              </a:lnSpc>
              <a:buSzPct val="100000"/>
              <a:buChar char="•"/>
            </a:pPr>
            <a:r>
              <a:rPr lang="en-US" sz="1450" dirty="0">
                <a:solidFill>
                  <a:srgbClr val="FFFFFF"/>
                </a:solidFill>
                <a:latin typeface="Exo" pitchFamily="34" charset="0"/>
                <a:ea typeface="Exo" pitchFamily="34" charset="-122"/>
                <a:cs typeface="Exo" pitchFamily="34" charset="-120"/>
              </a:rPr>
              <a:t>Can a spare part transfer between sites, and what ripple does that create?</a:t>
            </a:r>
            <a:endParaRPr lang="en-US" sz="1450" dirty="0"/>
          </a:p>
        </p:txBody>
      </p:sp>
      <p:sp>
        <p:nvSpPr>
          <p:cNvPr id="13" name="Text 11"/>
          <p:cNvSpPr/>
          <p:nvPr/>
        </p:nvSpPr>
        <p:spPr>
          <a:xfrm>
            <a:off x="609585" y="5308798"/>
            <a:ext cx="10972526" cy="404118"/>
          </a:xfrm>
          <a:prstGeom prst="rect">
            <a:avLst/>
          </a:prstGeom>
          <a:noFill/>
          <a:ln/>
        </p:spPr>
        <p:txBody>
          <a:bodyPr wrap="none" lIns="0" tIns="0" rIns="0" bIns="0" rtlCol="0" anchor="t"/>
          <a:lstStyle/>
          <a:p>
            <a:pPr algn="l" indent="0" marL="0">
              <a:lnSpc>
                <a:spcPct val="110000"/>
              </a:lnSpc>
              <a:buNone/>
            </a:pPr>
            <a:r>
              <a:rPr lang="en-US" sz="2400" dirty="0">
                <a:solidFill>
                  <a:srgbClr val="D5D5D5"/>
                </a:solidFill>
                <a:latin typeface="Exo" pitchFamily="34" charset="0"/>
                <a:ea typeface="Exo" pitchFamily="34" charset="-122"/>
                <a:cs typeface="Exo" pitchFamily="34" charset="-120"/>
              </a:rPr>
              <a:t>Maintenance Data → Intelligence → Scenario Analysis → Human Decision</a:t>
            </a:r>
            <a:endParaRPr lang="en-US" sz="2400" dirty="0"/>
          </a:p>
        </p:txBody>
      </p:sp>
      <p:sp>
        <p:nvSpPr>
          <p:cNvPr id="14" name="Text 12"/>
          <p:cNvSpPr/>
          <p:nvPr/>
        </p:nvSpPr>
        <p:spPr>
          <a:xfrm>
            <a:off x="609585" y="5845671"/>
            <a:ext cx="11582110" cy="307380"/>
          </a:xfrm>
          <a:prstGeom prst="rect">
            <a:avLst/>
          </a:prstGeom>
          <a:noFill/>
          <a:ln/>
        </p:spPr>
        <p:txBody>
          <a:bodyPr wrap="none" lIns="0" tIns="0" rIns="0" bIns="0" rtlCol="0" anchor="t"/>
          <a:lstStyle/>
          <a:p>
            <a:pPr algn="l" indent="0" marL="0">
              <a:lnSpc>
                <a:spcPct val="116000"/>
              </a:lnSpc>
              <a:buNone/>
            </a:pPr>
            <a:r>
              <a:rPr lang="en-US" sz="1750" dirty="0">
                <a:solidFill>
                  <a:srgbClr val="D5D5D5"/>
                </a:solidFill>
                <a:latin typeface="Exo" pitchFamily="34" charset="0"/>
                <a:ea typeface="Exo" pitchFamily="34" charset="-122"/>
                <a:cs typeface="Exo" pitchFamily="34" charset="-120"/>
              </a:rPr>
              <a:t>Opportunity: make maintenance structured, conflict-aware, explainable, and auditable.</a:t>
            </a:r>
            <a:endParaRPr lang="en-US" sz="1750" dirty="0"/>
          </a:p>
        </p:txBody>
      </p:sp>
      <p:sp>
        <p:nvSpPr>
          <p:cNvPr id="15" name="Text 13"/>
          <p:cNvSpPr/>
          <p:nvPr/>
        </p:nvSpPr>
        <p:spPr>
          <a:xfrm>
            <a:off x="609585" y="6318349"/>
            <a:ext cx="11582110" cy="177800"/>
          </a:xfrm>
          <a:prstGeom prst="rect">
            <a:avLst/>
          </a:prstGeom>
          <a:noFill/>
          <a:ln/>
        </p:spPr>
        <p:txBody>
          <a:bodyPr wrap="none" lIns="0" tIns="0" rIns="0" bIns="0" rtlCol="0" anchor="t"/>
          <a:lstStyle/>
          <a:p>
            <a:pPr algn="l" indent="0" marL="0">
              <a:lnSpc>
                <a:spcPct val="110000"/>
              </a:lnSpc>
              <a:buNone/>
            </a:pPr>
            <a:r>
              <a:rPr lang="en-US" sz="1050" spc="11" kern="100" dirty="0">
                <a:solidFill>
                  <a:srgbClr val="9D9D9D"/>
                </a:solidFill>
                <a:latin typeface="Exo" pitchFamily="34" charset="0"/>
                <a:ea typeface="Exo" pitchFamily="34" charset="-122"/>
                <a:cs typeface="Exo" pitchFamily="34" charset="-120"/>
              </a:rPr>
              <a:t>The system supports the decision; it does not replace the accountable planner.</a:t>
            </a:r>
            <a:endParaRPr lang="en-US" sz="1050" dirty="0"/>
          </a:p>
        </p:txBody>
      </p:sp>
      <p:sp>
        <p:nvSpPr>
          <p:cNvPr id="16" name="Text 14"/>
          <p:cNvSpPr/>
          <p:nvPr/>
        </p:nvSpPr>
        <p:spPr>
          <a:xfrm>
            <a:off x="609585" y="6661448"/>
            <a:ext cx="11582110" cy="175121"/>
          </a:xfrm>
          <a:prstGeom prst="rect">
            <a:avLst/>
          </a:prstGeom>
          <a:noFill/>
          <a:ln/>
        </p:spPr>
        <p:txBody>
          <a:bodyPr wrap="none" lIns="0" tIns="0" rIns="0" bIns="0" rtlCol="0" anchor="t"/>
          <a:lstStyle/>
          <a:p>
            <a:pPr algn="l" indent="0" marL="0">
              <a:lnSpc>
                <a:spcPct val="108000"/>
              </a:lnSpc>
              <a:buNone/>
            </a:pPr>
            <a:r>
              <a:rPr lang="en-US" sz="1050" spc="90" kern="100" dirty="0">
                <a:solidFill>
                  <a:srgbClr val="B5B5B5"/>
                </a:solidFill>
                <a:latin typeface="Fira Mono Medium" pitchFamily="34" charset="0"/>
                <a:ea typeface="Fira Mono Medium" pitchFamily="34" charset="-122"/>
                <a:cs typeface="Fira Mono Medium" pitchFamily="34" charset="-120"/>
              </a:rPr>
              <a:t>404: NOT FOUND • DQ3-023 • DQBH</a:t>
            </a:r>
            <a:endParaRPr lang="en-US" sz="1050" dirty="0"/>
          </a:p>
        </p:txBody>
      </p:sp>
      <p:sp>
        <p:nvSpPr>
          <p:cNvPr id="17" name="Text 15"/>
          <p:cNvSpPr/>
          <p:nvPr/>
        </p:nvSpPr>
        <p:spPr>
          <a:xfrm>
            <a:off x="11826182" y="6461919"/>
            <a:ext cx="365513" cy="182563"/>
          </a:xfrm>
          <a:prstGeom prst="rect">
            <a:avLst/>
          </a:prstGeom>
          <a:noFill/>
          <a:ln/>
        </p:spPr>
        <p:txBody>
          <a:bodyPr wrap="none" lIns="0" tIns="0" rIns="0" bIns="0" rtlCol="0" anchor="ctr"/>
          <a:lstStyle/>
          <a:p>
            <a:pPr algn="l" indent="0" marL="0">
              <a:lnSpc>
                <a:spcPct val="118000"/>
              </a:lnSpc>
              <a:buNone/>
            </a:pPr>
            <a:r>
              <a:rPr lang="en-US" sz="1000" spc="81" kern="100" dirty="0">
                <a:solidFill>
                  <a:srgbClr val="9D9D9D"/>
                </a:solidFill>
                <a:latin typeface="Fira Mono" pitchFamily="34" charset="0"/>
                <a:ea typeface="Fira Mono" pitchFamily="34" charset="-122"/>
                <a:cs typeface="Fira Mono"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1822"/>
            <a:ext cx="9143771"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THE LIFECYCLE</a:t>
            </a:r>
            <a:endParaRPr lang="en-US" sz="1100" dirty="0"/>
          </a:p>
        </p:txBody>
      </p:sp>
      <p:sp>
        <p:nvSpPr>
          <p:cNvPr id="3" name="Text 1"/>
          <p:cNvSpPr/>
          <p:nvPr/>
        </p:nvSpPr>
        <p:spPr>
          <a:xfrm>
            <a:off x="609585" y="911566"/>
            <a:ext cx="8534187" cy="1195784"/>
          </a:xfrm>
          <a:prstGeom prst="rect">
            <a:avLst/>
          </a:prstGeom>
          <a:noFill/>
          <a:ln/>
        </p:spPr>
        <p:txBody>
          <a:bodyPr wrap="square" lIns="0" tIns="0" rIns="0" bIns="0" rtlCol="0" anchor="t">
            <a:normAutofit/>
          </a:bodyPr>
          <a:lstStyle/>
          <a:p>
            <a:pPr algn="l" indent="0" marL="0">
              <a:lnSpc>
                <a:spcPct val="89000"/>
              </a:lnSpc>
              <a:buNone/>
            </a:pPr>
            <a:r>
              <a:rPr lang="en-US" sz="4400" spc="-53" kern="100" dirty="0">
                <a:solidFill>
                  <a:srgbClr val="ECECEC"/>
                </a:solidFill>
                <a:latin typeface="Exo SemiBold" pitchFamily="34" charset="0"/>
                <a:ea typeface="Exo SemiBold" pitchFamily="34" charset="-122"/>
                <a:cs typeface="Exo SemiBold" pitchFamily="34" charset="-120"/>
              </a:rPr>
              <a:t>MaintenaX connects six steps across the maintenance lifecycle</a:t>
            </a:r>
            <a:endParaRPr lang="en-US" sz="4400" dirty="0"/>
          </a:p>
        </p:txBody>
      </p:sp>
      <p:sp>
        <p:nvSpPr>
          <p:cNvPr id="4" name="Shape 2"/>
          <p:cNvSpPr/>
          <p:nvPr/>
        </p:nvSpPr>
        <p:spPr>
          <a:xfrm>
            <a:off x="609585" y="2309217"/>
            <a:ext cx="2133547" cy="31651"/>
          </a:xfrm>
          <a:prstGeom prst="roundRect">
            <a:avLst>
              <a:gd name="adj" fmla="val 49998"/>
            </a:avLst>
          </a:prstGeom>
          <a:solidFill>
            <a:srgbClr val="9BE1FF"/>
          </a:solidFill>
          <a:ln/>
        </p:spPr>
      </p:sp>
      <p:sp>
        <p:nvSpPr>
          <p:cNvPr id="5" name="Text 3"/>
          <p:cNvSpPr/>
          <p:nvPr/>
        </p:nvSpPr>
        <p:spPr>
          <a:xfrm>
            <a:off x="609585" y="2564805"/>
            <a:ext cx="8534187"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Each step preserves the context needed by the next one, from the first request to the final audit trail.</a:t>
            </a:r>
            <a:endParaRPr lang="en-US" sz="1500" dirty="0"/>
          </a:p>
        </p:txBody>
      </p:sp>
      <p:sp>
        <p:nvSpPr>
          <p:cNvPr id="6" name="Text 4"/>
          <p:cNvSpPr/>
          <p:nvPr/>
        </p:nvSpPr>
        <p:spPr>
          <a:xfrm>
            <a:off x="609585" y="3285768"/>
            <a:ext cx="4190895"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01 · CAPTURE</a:t>
            </a:r>
            <a:endParaRPr lang="en-US" sz="1100" dirty="0"/>
          </a:p>
        </p:txBody>
      </p:sp>
      <p:sp>
        <p:nvSpPr>
          <p:cNvPr id="7" name="Text 5"/>
          <p:cNvSpPr/>
          <p:nvPr/>
        </p:nvSpPr>
        <p:spPr>
          <a:xfrm>
            <a:off x="609585" y="3579416"/>
            <a:ext cx="4190895"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Request and operating context enter one workflow.</a:t>
            </a:r>
            <a:endParaRPr lang="en-US" sz="1500" dirty="0"/>
          </a:p>
        </p:txBody>
      </p:sp>
      <p:sp>
        <p:nvSpPr>
          <p:cNvPr id="8" name="Text 6"/>
          <p:cNvSpPr/>
          <p:nvPr/>
        </p:nvSpPr>
        <p:spPr>
          <a:xfrm>
            <a:off x="4952876" y="3285768"/>
            <a:ext cx="4190895"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02 · COORDINATE</a:t>
            </a:r>
            <a:endParaRPr lang="en-US" sz="1100" dirty="0"/>
          </a:p>
        </p:txBody>
      </p:sp>
      <p:sp>
        <p:nvSpPr>
          <p:cNvPr id="9" name="Text 7"/>
          <p:cNvSpPr/>
          <p:nvPr/>
        </p:nvSpPr>
        <p:spPr>
          <a:xfrm>
            <a:off x="4952876" y="3579416"/>
            <a:ext cx="4190895"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People, timing, resources, and constraints stay visible.</a:t>
            </a:r>
            <a:endParaRPr lang="en-US" sz="1500" dirty="0"/>
          </a:p>
        </p:txBody>
      </p:sp>
      <p:sp>
        <p:nvSpPr>
          <p:cNvPr id="10" name="Text 8"/>
          <p:cNvSpPr/>
          <p:nvPr/>
        </p:nvSpPr>
        <p:spPr>
          <a:xfrm>
            <a:off x="609585" y="4274979"/>
            <a:ext cx="8534187"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03 · LEARN</a:t>
            </a:r>
            <a:endParaRPr lang="en-US" sz="1100" dirty="0"/>
          </a:p>
        </p:txBody>
      </p:sp>
      <p:sp>
        <p:nvSpPr>
          <p:cNvPr id="11" name="Text 9"/>
          <p:cNvSpPr/>
          <p:nvPr/>
        </p:nvSpPr>
        <p:spPr>
          <a:xfrm>
            <a:off x="609585" y="4568627"/>
            <a:ext cx="8534187"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Status and history remain available for the next decision.</a:t>
            </a:r>
            <a:endParaRPr lang="en-US" sz="1500" dirty="0"/>
          </a:p>
        </p:txBody>
      </p:sp>
      <p:sp>
        <p:nvSpPr>
          <p:cNvPr id="12" name="Text 10"/>
          <p:cNvSpPr/>
          <p:nvPr/>
        </p:nvSpPr>
        <p:spPr>
          <a:xfrm>
            <a:off x="609585" y="5289590"/>
            <a:ext cx="9143771"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404: NOT FOUND • DQ3-023 • DQBH</a:t>
            </a:r>
            <a:endParaRPr lang="en-US" sz="1100" dirty="0"/>
          </a:p>
        </p:txBody>
      </p:sp>
      <p:pic>
        <p:nvPicPr>
          <p:cNvPr id="13" name="Image 0" descr="preencoded.png">    </p:cNvPr>
          <p:cNvPicPr>
            <a:picLocks noChangeAspect="1"/>
          </p:cNvPicPr>
          <p:nvPr/>
        </p:nvPicPr>
        <p:blipFill>
          <a:blip r:embed="rId1"/>
          <a:stretch>
            <a:fillRect/>
          </a:stretch>
        </p:blipFill>
        <p:spPr>
          <a:xfrm>
            <a:off x="9753356" y="0"/>
            <a:ext cx="2438339" cy="3429000"/>
          </a:xfrm>
          <a:prstGeom prst="rect">
            <a:avLst/>
          </a:prstGeom>
        </p:spPr>
      </p:pic>
      <p:sp>
        <p:nvSpPr>
          <p:cNvPr id="14" name="Shape 11"/>
          <p:cNvSpPr/>
          <p:nvPr/>
        </p:nvSpPr>
        <p:spPr>
          <a:xfrm>
            <a:off x="0" y="3429000"/>
            <a:ext cx="6095848" cy="3429000"/>
          </a:xfrm>
          <a:prstGeom prst="rect">
            <a:avLst/>
          </a:prstGeom>
          <a:solidFill>
            <a:srgbClr val="284682"/>
          </a:solidFill>
          <a:ln/>
        </p:spPr>
      </p:sp>
      <p:sp>
        <p:nvSpPr>
          <p:cNvPr id="15" name="Text 12"/>
          <p:cNvSpPr/>
          <p:nvPr/>
        </p:nvSpPr>
        <p:spPr>
          <a:xfrm>
            <a:off x="609585" y="4040822"/>
            <a:ext cx="5486263"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OPERATIONAL CORE · COMPUTES</a:t>
            </a:r>
            <a:endParaRPr lang="en-US" sz="1100" dirty="0"/>
          </a:p>
        </p:txBody>
      </p:sp>
      <p:sp>
        <p:nvSpPr>
          <p:cNvPr id="16" name="Text 13"/>
          <p:cNvSpPr/>
          <p:nvPr/>
        </p:nvSpPr>
        <p:spPr>
          <a:xfrm>
            <a:off x="609585" y="4299545"/>
            <a:ext cx="4876678" cy="419100"/>
          </a:xfrm>
          <a:prstGeom prst="rect">
            <a:avLst/>
          </a:prstGeom>
          <a:noFill/>
          <a:ln/>
        </p:spPr>
        <p:txBody>
          <a:bodyPr wrap="none" lIns="0" tIns="0" rIns="0" bIns="0" rtlCol="0" anchor="t"/>
          <a:lstStyle/>
          <a:p>
            <a:pPr algn="l" indent="0" marL="0">
              <a:lnSpc>
                <a:spcPct val="110000"/>
              </a:lnSpc>
              <a:buNone/>
            </a:pPr>
            <a:r>
              <a:rPr lang="en-US" sz="2500" dirty="0">
                <a:solidFill>
                  <a:srgbClr val="D5D5D5"/>
                </a:solidFill>
                <a:latin typeface="Exo" pitchFamily="34" charset="0"/>
                <a:ea typeface="Exo" pitchFamily="34" charset="-122"/>
                <a:cs typeface="Exo" pitchFamily="34" charset="-120"/>
              </a:rPr>
              <a:t>Operational Core</a:t>
            </a:r>
            <a:endParaRPr lang="en-US" sz="2500" dirty="0"/>
          </a:p>
        </p:txBody>
      </p:sp>
      <p:sp>
        <p:nvSpPr>
          <p:cNvPr id="17" name="Text 14"/>
          <p:cNvSpPr/>
          <p:nvPr/>
        </p:nvSpPr>
        <p:spPr>
          <a:xfrm>
            <a:off x="609585" y="4861520"/>
            <a:ext cx="5486263"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Requests, workflow, scheduling, resources, and audit.</a:t>
            </a:r>
            <a:endParaRPr lang="en-US" sz="1500" dirty="0"/>
          </a:p>
        </p:txBody>
      </p:sp>
      <p:sp>
        <p:nvSpPr>
          <p:cNvPr id="18" name="Text 15"/>
          <p:cNvSpPr/>
          <p:nvPr/>
        </p:nvSpPr>
        <p:spPr>
          <a:xfrm>
            <a:off x="609585" y="5309791"/>
            <a:ext cx="4876678" cy="1183481"/>
          </a:xfrm>
          <a:prstGeom prst="rect">
            <a:avLst/>
          </a:prstGeom>
          <a:noFill/>
          <a:ln/>
        </p:spPr>
        <p:txBody>
          <a:bodyPr wrap="square" lIns="0" tIns="0" rIns="0" bIns="0" rtlCol="0" anchor="t">
            <a:normAutofit/>
          </a:bodyPr>
          <a:lstStyle/>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Capture the request and operating context.</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Coordinate work, people, timing, and resources.</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Preserve status and history in an audit-ready record.</a:t>
            </a:r>
            <a:endParaRPr lang="en-US" sz="1500" dirty="0"/>
          </a:p>
        </p:txBody>
      </p:sp>
      <p:sp>
        <p:nvSpPr>
          <p:cNvPr id="19" name="Shape 16"/>
          <p:cNvSpPr/>
          <p:nvPr/>
        </p:nvSpPr>
        <p:spPr>
          <a:xfrm>
            <a:off x="6095848" y="3429000"/>
            <a:ext cx="6095848" cy="3429000"/>
          </a:xfrm>
          <a:prstGeom prst="rect">
            <a:avLst/>
          </a:prstGeom>
          <a:solidFill>
            <a:srgbClr val="284682"/>
          </a:solidFill>
          <a:ln/>
        </p:spPr>
      </p:sp>
      <p:sp>
        <p:nvSpPr>
          <p:cNvPr id="20" name="Text 17"/>
          <p:cNvSpPr/>
          <p:nvPr/>
        </p:nvSpPr>
        <p:spPr>
          <a:xfrm>
            <a:off x="6324442" y="3659822"/>
            <a:ext cx="5867253"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INTELLIGENCE &amp; COPILOT · EXPLAINS</a:t>
            </a:r>
            <a:endParaRPr lang="en-US" sz="1100" dirty="0"/>
          </a:p>
        </p:txBody>
      </p:sp>
      <p:sp>
        <p:nvSpPr>
          <p:cNvPr id="21" name="Text 18"/>
          <p:cNvSpPr/>
          <p:nvPr/>
        </p:nvSpPr>
        <p:spPr>
          <a:xfrm>
            <a:off x="6324442" y="3918545"/>
            <a:ext cx="5638659" cy="419100"/>
          </a:xfrm>
          <a:prstGeom prst="rect">
            <a:avLst/>
          </a:prstGeom>
          <a:noFill/>
          <a:ln/>
        </p:spPr>
        <p:txBody>
          <a:bodyPr wrap="none" lIns="0" tIns="0" rIns="0" bIns="0" rtlCol="0" anchor="t"/>
          <a:lstStyle/>
          <a:p>
            <a:pPr algn="l" indent="0" marL="0">
              <a:lnSpc>
                <a:spcPct val="110000"/>
              </a:lnSpc>
              <a:buNone/>
            </a:pPr>
            <a:r>
              <a:rPr lang="en-US" sz="2500" dirty="0">
                <a:solidFill>
                  <a:srgbClr val="D5D5D5"/>
                </a:solidFill>
                <a:latin typeface="Exo" pitchFamily="34" charset="0"/>
                <a:ea typeface="Exo" pitchFamily="34" charset="-122"/>
                <a:cs typeface="Exo" pitchFamily="34" charset="-120"/>
              </a:rPr>
              <a:t>Intelligence &amp; Copilot</a:t>
            </a:r>
            <a:endParaRPr lang="en-US" sz="2500" dirty="0"/>
          </a:p>
        </p:txBody>
      </p:sp>
      <p:sp>
        <p:nvSpPr>
          <p:cNvPr id="22" name="Text 19"/>
          <p:cNvSpPr/>
          <p:nvPr/>
        </p:nvSpPr>
        <p:spPr>
          <a:xfrm>
            <a:off x="6324442" y="4480520"/>
            <a:ext cx="5638659"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Scenario estimates and explanations that support controlled decisions.</a:t>
            </a:r>
            <a:endParaRPr lang="en-US" sz="1500" dirty="0"/>
          </a:p>
        </p:txBody>
      </p:sp>
      <p:sp>
        <p:nvSpPr>
          <p:cNvPr id="23" name="Text 20"/>
          <p:cNvSpPr/>
          <p:nvPr/>
        </p:nvSpPr>
        <p:spPr>
          <a:xfrm>
            <a:off x="6324442" y="5199261"/>
            <a:ext cx="5638659" cy="1234281"/>
          </a:xfrm>
          <a:prstGeom prst="rect">
            <a:avLst/>
          </a:prstGeom>
          <a:noFill/>
          <a:ln/>
        </p:spPr>
        <p:txBody>
          <a:bodyPr wrap="square" lIns="0" tIns="0" rIns="0" bIns="0" rtlCol="0" anchor="t">
            <a:normAutofit/>
          </a:bodyPr>
          <a:lstStyle/>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RandomForest repair-time estimate</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Technician compatibility score and ripple ranking</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Dropout simulation and spare-part transfer feasibility</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SLA forecast and Ollama explanation</a:t>
            </a:r>
            <a:endParaRPr lang="en-US" sz="1500" dirty="0"/>
          </a:p>
        </p:txBody>
      </p:sp>
      <p:sp>
        <p:nvSpPr>
          <p:cNvPr id="24" name="Text 21"/>
          <p:cNvSpPr/>
          <p:nvPr/>
        </p:nvSpPr>
        <p:spPr>
          <a:xfrm>
            <a:off x="6324442" y="6611342"/>
            <a:ext cx="5867253" cy="270470"/>
          </a:xfrm>
          <a:prstGeom prst="rect">
            <a:avLst/>
          </a:prstGeom>
          <a:noFill/>
          <a:ln/>
        </p:spPr>
        <p:txBody>
          <a:bodyPr wrap="none" lIns="0" tIns="0" rIns="0" bIns="0" rtlCol="0" anchor="t"/>
          <a:lstStyle/>
          <a:p>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The Intelligence Engine computes. The Copilot explains.</a:t>
            </a:r>
            <a:endParaRPr lang="en-US" sz="1500" dirty="0"/>
          </a:p>
        </p:txBody>
      </p:sp>
      <p:sp>
        <p:nvSpPr>
          <p:cNvPr id="25" name="Text 22"/>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2490"/>
            <a:ext cx="11582110" cy="159941"/>
          </a:xfrm>
          <a:prstGeom prst="rect">
            <a:avLst/>
          </a:prstGeom>
          <a:noFill/>
          <a:ln/>
        </p:spPr>
        <p:txBody>
          <a:bodyPr wrap="none" lIns="0" tIns="0" rIns="0" bIns="0" rtlCol="0" anchor="t"/>
          <a:lstStyle/>
          <a:p>
            <a:pPr algn="l" indent="0" marL="0">
              <a:lnSpc>
                <a:spcPct val="108000"/>
              </a:lnSpc>
              <a:buNone/>
            </a:pPr>
            <a:r>
              <a:rPr lang="en-US" sz="950" spc="82" kern="100" dirty="0">
                <a:solidFill>
                  <a:srgbClr val="B5B5B5"/>
                </a:solidFill>
                <a:latin typeface="Fira Mono Medium" pitchFamily="34" charset="0"/>
                <a:ea typeface="Fira Mono Medium" pitchFamily="34" charset="-122"/>
                <a:cs typeface="Fira Mono Medium" pitchFamily="34" charset="-120"/>
              </a:rPr>
              <a:t>THE USER JOURNEY</a:t>
            </a:r>
            <a:endParaRPr lang="en-US" sz="950" dirty="0"/>
          </a:p>
        </p:txBody>
      </p:sp>
      <p:sp>
        <p:nvSpPr>
          <p:cNvPr id="3" name="Text 1"/>
          <p:cNvSpPr/>
          <p:nvPr/>
        </p:nvSpPr>
        <p:spPr>
          <a:xfrm>
            <a:off x="609585" y="866143"/>
            <a:ext cx="10972526" cy="1052711"/>
          </a:xfrm>
          <a:prstGeom prst="rect">
            <a:avLst/>
          </a:prstGeom>
          <a:noFill/>
          <a:ln/>
        </p:spPr>
        <p:txBody>
          <a:bodyPr wrap="square" lIns="0" tIns="0" rIns="0" bIns="0" rtlCol="0" anchor="t">
            <a:normAutofit/>
          </a:bodyPr>
          <a:lstStyle/>
          <a:p>
            <a:pPr algn="l" indent="0" marL="0">
              <a:lnSpc>
                <a:spcPct val="89000"/>
              </a:lnSpc>
              <a:buNone/>
            </a:pPr>
            <a:r>
              <a:rPr lang="en-US" sz="3850" spc="-46" kern="100" dirty="0">
                <a:solidFill>
                  <a:srgbClr val="ECECEC"/>
                </a:solidFill>
                <a:latin typeface="Exo SemiBold" pitchFamily="34" charset="0"/>
                <a:ea typeface="Exo SemiBold" pitchFamily="34" charset="-122"/>
                <a:cs typeface="Exo SemiBold" pitchFamily="34" charset="-120"/>
              </a:rPr>
              <a:t>One user journey turns a maintenance request into accountable execution</a:t>
            </a:r>
            <a:endParaRPr lang="en-US" sz="3850" dirty="0"/>
          </a:p>
        </p:txBody>
      </p:sp>
      <p:sp>
        <p:nvSpPr>
          <p:cNvPr id="4" name="Text 2"/>
          <p:cNvSpPr/>
          <p:nvPr/>
        </p:nvSpPr>
        <p:spPr>
          <a:xfrm>
            <a:off x="609585" y="2022815"/>
            <a:ext cx="10972526" cy="280392"/>
          </a:xfrm>
          <a:prstGeom prst="rect">
            <a:avLst/>
          </a:prstGeom>
          <a:noFill/>
          <a:ln/>
        </p:spPr>
        <p:txBody>
          <a:bodyPr wrap="none" lIns="0" tIns="0" rIns="0" bIns="0" rtlCol="0" anchor="t"/>
          <a:lstStyle/>
          <a:p>
            <a:pPr algn="l" indent="0" marL="0">
              <a:lnSpc>
                <a:spcPct val="110000"/>
              </a:lnSpc>
              <a:buNone/>
            </a:pPr>
            <a:r>
              <a:rPr lang="en-US" sz="1650" dirty="0">
                <a:solidFill>
                  <a:srgbClr val="D5D5D5"/>
                </a:solidFill>
                <a:latin typeface="Exo" pitchFamily="34" charset="0"/>
                <a:ea typeface="Exo" pitchFamily="34" charset="-122"/>
                <a:cs typeface="Exo" pitchFamily="34" charset="-120"/>
              </a:rPr>
              <a:t>Recommendations inform the plan; they never change real assignments automatically.</a:t>
            </a:r>
            <a:endParaRPr lang="en-US" sz="1650" dirty="0"/>
          </a:p>
        </p:txBody>
      </p:sp>
      <p:sp>
        <p:nvSpPr>
          <p:cNvPr id="5" name="Text 3"/>
          <p:cNvSpPr/>
          <p:nvPr/>
        </p:nvSpPr>
        <p:spPr>
          <a:xfrm>
            <a:off x="609585" y="2412603"/>
            <a:ext cx="780336" cy="167680"/>
          </a:xfrm>
          <a:prstGeom prst="rect">
            <a:avLst/>
          </a:prstGeom>
          <a:noFill/>
          <a:ln/>
        </p:spPr>
        <p:txBody>
          <a:bodyPr wrap="none" lIns="0" tIns="0" rIns="0" bIns="0" rtlCol="0" anchor="t"/>
          <a:lstStyle/>
          <a:p>
            <a:pPr algn="l" indent="0" marL="0">
              <a:lnSpc>
                <a:spcPct val="83000"/>
              </a:lnSpc>
              <a:buNone/>
            </a:pPr>
            <a:r>
              <a:rPr lang="en-US" sz="1300" dirty="0">
                <a:solidFill>
                  <a:srgbClr val="E8E8E8"/>
                </a:solidFill>
                <a:latin typeface="Exo Medium" pitchFamily="34" charset="0"/>
                <a:ea typeface="Exo Medium" pitchFamily="34" charset="-122"/>
                <a:cs typeface="Exo Medium" pitchFamily="34" charset="-120"/>
              </a:rPr>
              <a:t>01</a:t>
            </a:r>
            <a:endParaRPr lang="en-US" sz="1300" dirty="0"/>
          </a:p>
        </p:txBody>
      </p:sp>
      <p:sp>
        <p:nvSpPr>
          <p:cNvPr id="6" name="Text 4"/>
          <p:cNvSpPr/>
          <p:nvPr/>
        </p:nvSpPr>
        <p:spPr>
          <a:xfrm>
            <a:off x="609585" y="2771627"/>
            <a:ext cx="2565336" cy="174327"/>
          </a:xfrm>
          <a:prstGeom prst="rect">
            <a:avLst/>
          </a:prstGeom>
          <a:noFill/>
          <a:ln/>
        </p:spPr>
        <p:txBody>
          <a:bodyPr wrap="none" lIns="0" tIns="0" rIns="0" bIns="0" rtlCol="0" anchor="t"/>
          <a:lstStyle/>
          <a:p>
            <a:pPr algn="l" indent="0" marL="0">
              <a:lnSpc>
                <a:spcPct val="108000"/>
              </a:lnSpc>
              <a:buNone/>
            </a:pPr>
            <a:r>
              <a:rPr lang="en-US" sz="1050" spc="169" kern="100" dirty="0">
                <a:solidFill>
                  <a:srgbClr val="D5D5D5"/>
                </a:solidFill>
                <a:latin typeface="Michroma" pitchFamily="34" charset="0"/>
                <a:ea typeface="Michroma" pitchFamily="34" charset="-122"/>
                <a:cs typeface="Michroma" pitchFamily="34" charset="-120"/>
              </a:rPr>
              <a:t>SERVICE REQUEST</a:t>
            </a:r>
            <a:endParaRPr lang="en-US" sz="1050" dirty="0"/>
          </a:p>
        </p:txBody>
      </p:sp>
      <p:sp>
        <p:nvSpPr>
          <p:cNvPr id="7" name="Text 5"/>
          <p:cNvSpPr/>
          <p:nvPr/>
        </p:nvSpPr>
        <p:spPr>
          <a:xfrm>
            <a:off x="609585" y="3044310"/>
            <a:ext cx="2743131" cy="223838"/>
          </a:xfrm>
          <a:prstGeom prst="rect">
            <a:avLst/>
          </a:prstGeom>
          <a:noFill/>
          <a:ln/>
        </p:spPr>
        <p:txBody>
          <a:bodyPr wrap="none" lIns="0" tIns="0" rIns="0" bIns="0" rtlCol="0" anchor="t"/>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Capture the need and context.</a:t>
            </a:r>
            <a:endParaRPr lang="en-US" sz="1300" dirty="0"/>
          </a:p>
        </p:txBody>
      </p:sp>
      <p:sp>
        <p:nvSpPr>
          <p:cNvPr id="8" name="Text 6"/>
          <p:cNvSpPr/>
          <p:nvPr/>
        </p:nvSpPr>
        <p:spPr>
          <a:xfrm>
            <a:off x="3530512" y="2412603"/>
            <a:ext cx="818237" cy="167680"/>
          </a:xfrm>
          <a:prstGeom prst="rect">
            <a:avLst/>
          </a:prstGeom>
          <a:noFill/>
          <a:ln/>
        </p:spPr>
        <p:txBody>
          <a:bodyPr wrap="none" lIns="0" tIns="0" rIns="0" bIns="0" rtlCol="0" anchor="t"/>
          <a:lstStyle/>
          <a:p>
            <a:pPr algn="l" indent="0" marL="0">
              <a:lnSpc>
                <a:spcPct val="83000"/>
              </a:lnSpc>
              <a:buNone/>
            </a:pPr>
            <a:r>
              <a:rPr lang="en-US" sz="1300" dirty="0">
                <a:solidFill>
                  <a:srgbClr val="E8E8E8"/>
                </a:solidFill>
                <a:latin typeface="Exo Medium" pitchFamily="34" charset="0"/>
                <a:ea typeface="Exo Medium" pitchFamily="34" charset="-122"/>
                <a:cs typeface="Exo Medium" pitchFamily="34" charset="-120"/>
              </a:rPr>
              <a:t>02</a:t>
            </a:r>
            <a:endParaRPr lang="en-US" sz="1300" dirty="0"/>
          </a:p>
        </p:txBody>
      </p:sp>
      <p:sp>
        <p:nvSpPr>
          <p:cNvPr id="9" name="Text 7"/>
          <p:cNvSpPr/>
          <p:nvPr/>
        </p:nvSpPr>
        <p:spPr>
          <a:xfrm>
            <a:off x="3530512" y="2771627"/>
            <a:ext cx="2387540" cy="174327"/>
          </a:xfrm>
          <a:prstGeom prst="rect">
            <a:avLst/>
          </a:prstGeom>
          <a:noFill/>
          <a:ln/>
        </p:spPr>
        <p:txBody>
          <a:bodyPr wrap="none" lIns="0" tIns="0" rIns="0" bIns="0" rtlCol="0" anchor="t"/>
          <a:lstStyle/>
          <a:p>
            <a:pPr algn="l" indent="0" marL="0">
              <a:lnSpc>
                <a:spcPct val="108000"/>
              </a:lnSpc>
              <a:buNone/>
            </a:pPr>
            <a:r>
              <a:rPr lang="en-US" sz="1050" spc="169" kern="100" dirty="0">
                <a:solidFill>
                  <a:srgbClr val="D5D5D5"/>
                </a:solidFill>
                <a:latin typeface="Michroma" pitchFamily="34" charset="0"/>
                <a:ea typeface="Michroma" pitchFamily="34" charset="-122"/>
                <a:cs typeface="Michroma" pitchFamily="34" charset="-120"/>
              </a:rPr>
              <a:t>VALIDATE</a:t>
            </a:r>
            <a:endParaRPr lang="en-US" sz="1050" dirty="0"/>
          </a:p>
        </p:txBody>
      </p:sp>
      <p:sp>
        <p:nvSpPr>
          <p:cNvPr id="10" name="Text 8"/>
          <p:cNvSpPr/>
          <p:nvPr/>
        </p:nvSpPr>
        <p:spPr>
          <a:xfrm>
            <a:off x="3530512" y="3044310"/>
            <a:ext cx="2387540" cy="447675"/>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Check constraints, history, and resources.</a:t>
            </a:r>
            <a:endParaRPr lang="en-US" sz="1300" dirty="0"/>
          </a:p>
        </p:txBody>
      </p:sp>
      <p:sp>
        <p:nvSpPr>
          <p:cNvPr id="11" name="Text 9"/>
          <p:cNvSpPr/>
          <p:nvPr/>
        </p:nvSpPr>
        <p:spPr>
          <a:xfrm>
            <a:off x="6273643" y="2412603"/>
            <a:ext cx="816848" cy="167680"/>
          </a:xfrm>
          <a:prstGeom prst="rect">
            <a:avLst/>
          </a:prstGeom>
          <a:noFill/>
          <a:ln/>
        </p:spPr>
        <p:txBody>
          <a:bodyPr wrap="none" lIns="0" tIns="0" rIns="0" bIns="0" rtlCol="0" anchor="t"/>
          <a:lstStyle/>
          <a:p>
            <a:pPr algn="l" indent="0" marL="0">
              <a:lnSpc>
                <a:spcPct val="83000"/>
              </a:lnSpc>
              <a:buNone/>
            </a:pPr>
            <a:r>
              <a:rPr lang="en-US" sz="1300" dirty="0">
                <a:solidFill>
                  <a:srgbClr val="E8E8E8"/>
                </a:solidFill>
                <a:latin typeface="Exo Medium" pitchFamily="34" charset="0"/>
                <a:ea typeface="Exo Medium" pitchFamily="34" charset="-122"/>
                <a:cs typeface="Exo Medium" pitchFamily="34" charset="-120"/>
              </a:rPr>
              <a:t>03</a:t>
            </a:r>
            <a:endParaRPr lang="en-US" sz="1300" dirty="0"/>
          </a:p>
        </p:txBody>
      </p:sp>
      <p:sp>
        <p:nvSpPr>
          <p:cNvPr id="12" name="Text 10"/>
          <p:cNvSpPr/>
          <p:nvPr/>
        </p:nvSpPr>
        <p:spPr>
          <a:xfrm>
            <a:off x="6273643" y="2771627"/>
            <a:ext cx="2387540" cy="348655"/>
          </a:xfrm>
          <a:prstGeom prst="rect">
            <a:avLst/>
          </a:prstGeom>
          <a:noFill/>
          <a:ln/>
        </p:spPr>
        <p:txBody>
          <a:bodyPr wrap="square" lIns="0" tIns="0" rIns="0" bIns="0" rtlCol="0" anchor="t">
            <a:normAutofit/>
          </a:bodyPr>
          <a:lstStyle/>
          <a:p>
            <a:pPr algn="l" indent="0" marL="0">
              <a:lnSpc>
                <a:spcPct val="108000"/>
              </a:lnSpc>
              <a:buNone/>
            </a:pPr>
            <a:r>
              <a:rPr lang="en-US" sz="1050" spc="169" kern="100" dirty="0">
                <a:solidFill>
                  <a:srgbClr val="D5D5D5"/>
                </a:solidFill>
                <a:latin typeface="Michroma" pitchFamily="34" charset="0"/>
                <a:ea typeface="Michroma" pitchFamily="34" charset="-122"/>
                <a:cs typeface="Michroma" pitchFamily="34" charset="-120"/>
              </a:rPr>
              <a:t>ML RECOMMENDATION</a:t>
            </a:r>
            <a:endParaRPr lang="en-US" sz="1050" dirty="0"/>
          </a:p>
        </p:txBody>
      </p:sp>
      <p:sp>
        <p:nvSpPr>
          <p:cNvPr id="13" name="Text 11"/>
          <p:cNvSpPr/>
          <p:nvPr/>
        </p:nvSpPr>
        <p:spPr>
          <a:xfrm>
            <a:off x="6273643" y="3218637"/>
            <a:ext cx="2565336" cy="223838"/>
          </a:xfrm>
          <a:prstGeom prst="rect">
            <a:avLst/>
          </a:prstGeom>
          <a:noFill/>
          <a:ln/>
        </p:spPr>
        <p:txBody>
          <a:bodyPr wrap="none" lIns="0" tIns="0" rIns="0" bIns="0" rtlCol="0" anchor="t"/>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Estimate repair time and fit.</a:t>
            </a:r>
            <a:endParaRPr lang="en-US" sz="1300" dirty="0"/>
          </a:p>
        </p:txBody>
      </p:sp>
      <p:sp>
        <p:nvSpPr>
          <p:cNvPr id="14" name="Text 12"/>
          <p:cNvSpPr/>
          <p:nvPr/>
        </p:nvSpPr>
        <p:spPr>
          <a:xfrm>
            <a:off x="9016774" y="2412603"/>
            <a:ext cx="820022" cy="167680"/>
          </a:xfrm>
          <a:prstGeom prst="rect">
            <a:avLst/>
          </a:prstGeom>
          <a:noFill/>
          <a:ln/>
        </p:spPr>
        <p:txBody>
          <a:bodyPr wrap="none" lIns="0" tIns="0" rIns="0" bIns="0" rtlCol="0" anchor="t"/>
          <a:lstStyle/>
          <a:p>
            <a:pPr algn="l" indent="0" marL="0">
              <a:lnSpc>
                <a:spcPct val="83000"/>
              </a:lnSpc>
              <a:buNone/>
            </a:pPr>
            <a:r>
              <a:rPr lang="en-US" sz="1300" dirty="0">
                <a:solidFill>
                  <a:srgbClr val="E8E8E8"/>
                </a:solidFill>
                <a:latin typeface="Exo Medium" pitchFamily="34" charset="0"/>
                <a:ea typeface="Exo Medium" pitchFamily="34" charset="-122"/>
                <a:cs typeface="Exo Medium" pitchFamily="34" charset="-120"/>
              </a:rPr>
              <a:t>04</a:t>
            </a:r>
            <a:endParaRPr lang="en-US" sz="1300" dirty="0"/>
          </a:p>
        </p:txBody>
      </p:sp>
      <p:sp>
        <p:nvSpPr>
          <p:cNvPr id="15" name="Text 13"/>
          <p:cNvSpPr/>
          <p:nvPr/>
        </p:nvSpPr>
        <p:spPr>
          <a:xfrm>
            <a:off x="9016774" y="2771627"/>
            <a:ext cx="2565336" cy="348655"/>
          </a:xfrm>
          <a:prstGeom prst="rect">
            <a:avLst/>
          </a:prstGeom>
          <a:noFill/>
          <a:ln/>
        </p:spPr>
        <p:txBody>
          <a:bodyPr wrap="square" lIns="0" tIns="0" rIns="0" bIns="0" rtlCol="0" anchor="t">
            <a:normAutofit/>
          </a:bodyPr>
          <a:lstStyle/>
          <a:p>
            <a:pPr algn="l" indent="0" marL="0">
              <a:lnSpc>
                <a:spcPct val="108000"/>
              </a:lnSpc>
              <a:buNone/>
            </a:pPr>
            <a:r>
              <a:rPr lang="en-US" sz="1050" spc="169" kern="100" dirty="0">
                <a:solidFill>
                  <a:srgbClr val="D5D5D5"/>
                </a:solidFill>
                <a:latin typeface="Michroma" pitchFamily="34" charset="0"/>
                <a:ea typeface="Michroma" pitchFamily="34" charset="-122"/>
                <a:cs typeface="Michroma" pitchFamily="34" charset="-120"/>
              </a:rPr>
              <a:t>COMPARE ALTERNATIVES</a:t>
            </a:r>
            <a:endParaRPr lang="en-US" sz="1050" dirty="0"/>
          </a:p>
        </p:txBody>
      </p:sp>
      <p:sp>
        <p:nvSpPr>
          <p:cNvPr id="16" name="Text 14"/>
          <p:cNvSpPr/>
          <p:nvPr/>
        </p:nvSpPr>
        <p:spPr>
          <a:xfrm>
            <a:off x="9016774" y="3218637"/>
            <a:ext cx="2565336" cy="223838"/>
          </a:xfrm>
          <a:prstGeom prst="rect">
            <a:avLst/>
          </a:prstGeom>
          <a:noFill/>
          <a:ln/>
        </p:spPr>
        <p:txBody>
          <a:bodyPr wrap="none" lIns="0" tIns="0" rIns="0" bIns="0" rtlCol="0" anchor="t"/>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Review options and trade-offs.</a:t>
            </a:r>
            <a:endParaRPr lang="en-US" sz="1300" dirty="0"/>
          </a:p>
        </p:txBody>
      </p:sp>
      <p:sp>
        <p:nvSpPr>
          <p:cNvPr id="17" name="Text 15"/>
          <p:cNvSpPr/>
          <p:nvPr/>
        </p:nvSpPr>
        <p:spPr>
          <a:xfrm>
            <a:off x="609585" y="4020741"/>
            <a:ext cx="823594" cy="167680"/>
          </a:xfrm>
          <a:prstGeom prst="rect">
            <a:avLst/>
          </a:prstGeom>
          <a:noFill/>
          <a:ln/>
        </p:spPr>
        <p:txBody>
          <a:bodyPr wrap="none" lIns="0" tIns="0" rIns="0" bIns="0" rtlCol="0" anchor="t"/>
          <a:lstStyle/>
          <a:p>
            <a:pPr algn="l" indent="0" marL="0">
              <a:lnSpc>
                <a:spcPct val="83000"/>
              </a:lnSpc>
              <a:buNone/>
            </a:pPr>
            <a:r>
              <a:rPr lang="en-US" sz="1300" dirty="0">
                <a:solidFill>
                  <a:srgbClr val="E8E8E8"/>
                </a:solidFill>
                <a:latin typeface="Exo Medium" pitchFamily="34" charset="0"/>
                <a:ea typeface="Exo Medium" pitchFamily="34" charset="-122"/>
                <a:cs typeface="Exo Medium" pitchFamily="34" charset="-120"/>
              </a:rPr>
              <a:t>05</a:t>
            </a:r>
            <a:endParaRPr lang="en-US" sz="1300" dirty="0"/>
          </a:p>
        </p:txBody>
      </p:sp>
      <p:sp>
        <p:nvSpPr>
          <p:cNvPr id="18" name="Text 16"/>
          <p:cNvSpPr/>
          <p:nvPr/>
        </p:nvSpPr>
        <p:spPr>
          <a:xfrm>
            <a:off x="609585" y="4379764"/>
            <a:ext cx="2565336" cy="348655"/>
          </a:xfrm>
          <a:prstGeom prst="rect">
            <a:avLst/>
          </a:prstGeom>
          <a:noFill/>
          <a:ln/>
        </p:spPr>
        <p:txBody>
          <a:bodyPr wrap="square" lIns="0" tIns="0" rIns="0" bIns="0" rtlCol="0" anchor="t">
            <a:normAutofit/>
          </a:bodyPr>
          <a:lstStyle/>
          <a:p>
            <a:pPr algn="l" indent="0" marL="0">
              <a:lnSpc>
                <a:spcPct val="108000"/>
              </a:lnSpc>
              <a:buNone/>
            </a:pPr>
            <a:r>
              <a:rPr lang="en-US" sz="1050" spc="169" kern="100" dirty="0">
                <a:solidFill>
                  <a:srgbClr val="D5D5D5"/>
                </a:solidFill>
                <a:latin typeface="Michroma" pitchFamily="34" charset="0"/>
                <a:ea typeface="Michroma" pitchFamily="34" charset="-122"/>
                <a:cs typeface="Michroma" pitchFamily="34" charset="-120"/>
              </a:rPr>
              <a:t>SIMULATE SCENARIOS</a:t>
            </a:r>
            <a:endParaRPr lang="en-US" sz="1050" dirty="0"/>
          </a:p>
        </p:txBody>
      </p:sp>
      <p:sp>
        <p:nvSpPr>
          <p:cNvPr id="19" name="Text 17"/>
          <p:cNvSpPr/>
          <p:nvPr/>
        </p:nvSpPr>
        <p:spPr>
          <a:xfrm>
            <a:off x="609585" y="4826775"/>
            <a:ext cx="2565336" cy="447675"/>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Test dropout, ripple, and SLA risk.</a:t>
            </a:r>
            <a:endParaRPr lang="en-US" sz="1300" dirty="0"/>
          </a:p>
        </p:txBody>
      </p:sp>
      <p:sp>
        <p:nvSpPr>
          <p:cNvPr id="20" name="Text 18"/>
          <p:cNvSpPr/>
          <p:nvPr/>
        </p:nvSpPr>
        <p:spPr>
          <a:xfrm>
            <a:off x="3530512" y="4020741"/>
            <a:ext cx="822701" cy="167680"/>
          </a:xfrm>
          <a:prstGeom prst="rect">
            <a:avLst/>
          </a:prstGeom>
          <a:noFill/>
          <a:ln/>
        </p:spPr>
        <p:txBody>
          <a:bodyPr wrap="none" lIns="0" tIns="0" rIns="0" bIns="0" rtlCol="0" anchor="t"/>
          <a:lstStyle/>
          <a:p>
            <a:pPr algn="l" indent="0" marL="0">
              <a:lnSpc>
                <a:spcPct val="83000"/>
              </a:lnSpc>
              <a:buNone/>
            </a:pPr>
            <a:r>
              <a:rPr lang="en-US" sz="1300" dirty="0">
                <a:solidFill>
                  <a:srgbClr val="E8E8E8"/>
                </a:solidFill>
                <a:latin typeface="Exo Medium" pitchFamily="34" charset="0"/>
                <a:ea typeface="Exo Medium" pitchFamily="34" charset="-122"/>
                <a:cs typeface="Exo Medium" pitchFamily="34" charset="-120"/>
              </a:rPr>
              <a:t>06</a:t>
            </a:r>
            <a:endParaRPr lang="en-US" sz="1300" dirty="0"/>
          </a:p>
        </p:txBody>
      </p:sp>
      <p:sp>
        <p:nvSpPr>
          <p:cNvPr id="21" name="Text 19"/>
          <p:cNvSpPr/>
          <p:nvPr/>
        </p:nvSpPr>
        <p:spPr>
          <a:xfrm>
            <a:off x="3530512" y="4379764"/>
            <a:ext cx="2387540" cy="174327"/>
          </a:xfrm>
          <a:prstGeom prst="rect">
            <a:avLst/>
          </a:prstGeom>
          <a:noFill/>
          <a:ln/>
        </p:spPr>
        <p:txBody>
          <a:bodyPr wrap="none" lIns="0" tIns="0" rIns="0" bIns="0" rtlCol="0" anchor="t"/>
          <a:lstStyle/>
          <a:p>
            <a:pPr algn="l" indent="0" marL="0">
              <a:lnSpc>
                <a:spcPct val="108000"/>
              </a:lnSpc>
              <a:buNone/>
            </a:pPr>
            <a:r>
              <a:rPr lang="en-US" sz="1050" spc="169" kern="100" dirty="0">
                <a:solidFill>
                  <a:srgbClr val="D5D5D5"/>
                </a:solidFill>
                <a:latin typeface="Michroma" pitchFamily="34" charset="0"/>
                <a:ea typeface="Michroma" pitchFamily="34" charset="-122"/>
                <a:cs typeface="Michroma" pitchFamily="34" charset="-120"/>
              </a:rPr>
              <a:t>HUMAN APPROVAL</a:t>
            </a:r>
            <a:endParaRPr lang="en-US" sz="1050" dirty="0"/>
          </a:p>
        </p:txBody>
      </p:sp>
      <p:sp>
        <p:nvSpPr>
          <p:cNvPr id="22" name="Text 20"/>
          <p:cNvSpPr/>
          <p:nvPr/>
        </p:nvSpPr>
        <p:spPr>
          <a:xfrm>
            <a:off x="3530512" y="4652447"/>
            <a:ext cx="2565336" cy="223838"/>
          </a:xfrm>
          <a:prstGeom prst="rect">
            <a:avLst/>
          </a:prstGeom>
          <a:noFill/>
          <a:ln/>
        </p:spPr>
        <p:txBody>
          <a:bodyPr wrap="none" lIns="0" tIns="0" rIns="0" bIns="0" rtlCol="0" anchor="t"/>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Planner chooses and confirms.</a:t>
            </a:r>
            <a:endParaRPr lang="en-US" sz="1300" dirty="0"/>
          </a:p>
        </p:txBody>
      </p:sp>
      <p:sp>
        <p:nvSpPr>
          <p:cNvPr id="23" name="Text 21"/>
          <p:cNvSpPr/>
          <p:nvPr/>
        </p:nvSpPr>
        <p:spPr>
          <a:xfrm>
            <a:off x="6273643" y="4020741"/>
            <a:ext cx="810895" cy="167680"/>
          </a:xfrm>
          <a:prstGeom prst="rect">
            <a:avLst/>
          </a:prstGeom>
          <a:noFill/>
          <a:ln/>
        </p:spPr>
        <p:txBody>
          <a:bodyPr wrap="none" lIns="0" tIns="0" rIns="0" bIns="0" rtlCol="0" anchor="t"/>
          <a:lstStyle/>
          <a:p>
            <a:pPr algn="l" indent="0" marL="0">
              <a:lnSpc>
                <a:spcPct val="83000"/>
              </a:lnSpc>
              <a:buNone/>
            </a:pPr>
            <a:r>
              <a:rPr lang="en-US" sz="1300" dirty="0">
                <a:solidFill>
                  <a:srgbClr val="E8E8E8"/>
                </a:solidFill>
                <a:latin typeface="Exo Medium" pitchFamily="34" charset="0"/>
                <a:ea typeface="Exo Medium" pitchFamily="34" charset="-122"/>
                <a:cs typeface="Exo Medium" pitchFamily="34" charset="-120"/>
              </a:rPr>
              <a:t>07</a:t>
            </a:r>
            <a:endParaRPr lang="en-US" sz="1300" dirty="0"/>
          </a:p>
        </p:txBody>
      </p:sp>
      <p:sp>
        <p:nvSpPr>
          <p:cNvPr id="24" name="Text 22"/>
          <p:cNvSpPr/>
          <p:nvPr/>
        </p:nvSpPr>
        <p:spPr>
          <a:xfrm>
            <a:off x="6273643" y="4379764"/>
            <a:ext cx="2387540" cy="174327"/>
          </a:xfrm>
          <a:prstGeom prst="rect">
            <a:avLst/>
          </a:prstGeom>
          <a:noFill/>
          <a:ln/>
        </p:spPr>
        <p:txBody>
          <a:bodyPr wrap="none" lIns="0" tIns="0" rIns="0" bIns="0" rtlCol="0" anchor="t"/>
          <a:lstStyle/>
          <a:p>
            <a:pPr algn="l" indent="0" marL="0">
              <a:lnSpc>
                <a:spcPct val="108000"/>
              </a:lnSpc>
              <a:buNone/>
            </a:pPr>
            <a:r>
              <a:rPr lang="en-US" sz="1050" spc="169" kern="100" dirty="0">
                <a:solidFill>
                  <a:srgbClr val="D5D5D5"/>
                </a:solidFill>
                <a:latin typeface="Michroma" pitchFamily="34" charset="0"/>
                <a:ea typeface="Michroma" pitchFamily="34" charset="-122"/>
                <a:cs typeface="Michroma" pitchFamily="34" charset="-120"/>
              </a:rPr>
              <a:t>EXECUTE</a:t>
            </a:r>
            <a:endParaRPr lang="en-US" sz="1050" dirty="0"/>
          </a:p>
        </p:txBody>
      </p:sp>
      <p:sp>
        <p:nvSpPr>
          <p:cNvPr id="25" name="Text 23"/>
          <p:cNvSpPr/>
          <p:nvPr/>
        </p:nvSpPr>
        <p:spPr>
          <a:xfrm>
            <a:off x="6273643" y="4652447"/>
            <a:ext cx="2387540" cy="447675"/>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Technician carries out the approved plan.</a:t>
            </a:r>
            <a:endParaRPr lang="en-US" sz="1300" dirty="0"/>
          </a:p>
        </p:txBody>
      </p:sp>
      <p:sp>
        <p:nvSpPr>
          <p:cNvPr id="26" name="Text 24"/>
          <p:cNvSpPr/>
          <p:nvPr/>
        </p:nvSpPr>
        <p:spPr>
          <a:xfrm>
            <a:off x="9016774" y="4020741"/>
            <a:ext cx="826075" cy="167680"/>
          </a:xfrm>
          <a:prstGeom prst="rect">
            <a:avLst/>
          </a:prstGeom>
          <a:noFill/>
          <a:ln/>
        </p:spPr>
        <p:txBody>
          <a:bodyPr wrap="none" lIns="0" tIns="0" rIns="0" bIns="0" rtlCol="0" anchor="t"/>
          <a:lstStyle/>
          <a:p>
            <a:pPr algn="l" indent="0" marL="0">
              <a:lnSpc>
                <a:spcPct val="83000"/>
              </a:lnSpc>
              <a:buNone/>
            </a:pPr>
            <a:r>
              <a:rPr lang="en-US" sz="1300" dirty="0">
                <a:solidFill>
                  <a:srgbClr val="E8E8E8"/>
                </a:solidFill>
                <a:latin typeface="Exo Medium" pitchFamily="34" charset="0"/>
                <a:ea typeface="Exo Medium" pitchFamily="34" charset="-122"/>
                <a:cs typeface="Exo Medium" pitchFamily="34" charset="-120"/>
              </a:rPr>
              <a:t>08</a:t>
            </a:r>
            <a:endParaRPr lang="en-US" sz="1300" dirty="0"/>
          </a:p>
        </p:txBody>
      </p:sp>
      <p:sp>
        <p:nvSpPr>
          <p:cNvPr id="27" name="Text 25"/>
          <p:cNvSpPr/>
          <p:nvPr/>
        </p:nvSpPr>
        <p:spPr>
          <a:xfrm>
            <a:off x="9016774" y="4379764"/>
            <a:ext cx="2565336" cy="174327"/>
          </a:xfrm>
          <a:prstGeom prst="rect">
            <a:avLst/>
          </a:prstGeom>
          <a:noFill/>
          <a:ln/>
        </p:spPr>
        <p:txBody>
          <a:bodyPr wrap="none" lIns="0" tIns="0" rIns="0" bIns="0" rtlCol="0" anchor="t"/>
          <a:lstStyle/>
          <a:p>
            <a:pPr algn="l" indent="0" marL="0">
              <a:lnSpc>
                <a:spcPct val="108000"/>
              </a:lnSpc>
              <a:buNone/>
            </a:pPr>
            <a:r>
              <a:rPr lang="en-US" sz="1050" spc="169" kern="100" dirty="0">
                <a:solidFill>
                  <a:srgbClr val="D5D5D5"/>
                </a:solidFill>
                <a:latin typeface="Michroma" pitchFamily="34" charset="0"/>
                <a:ea typeface="Michroma" pitchFamily="34" charset="-122"/>
                <a:cs typeface="Michroma" pitchFamily="34" charset="-120"/>
              </a:rPr>
              <a:t>AUDIT</a:t>
            </a:r>
            <a:endParaRPr lang="en-US" sz="1050" dirty="0"/>
          </a:p>
        </p:txBody>
      </p:sp>
      <p:sp>
        <p:nvSpPr>
          <p:cNvPr id="28" name="Text 26"/>
          <p:cNvSpPr/>
          <p:nvPr/>
        </p:nvSpPr>
        <p:spPr>
          <a:xfrm>
            <a:off x="9016774" y="4652447"/>
            <a:ext cx="2565336" cy="447675"/>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Record status, evidence, and rationale.</a:t>
            </a:r>
            <a:endParaRPr lang="en-US" sz="1300" dirty="0"/>
          </a:p>
        </p:txBody>
      </p:sp>
      <p:sp>
        <p:nvSpPr>
          <p:cNvPr id="29" name="Text 27"/>
          <p:cNvSpPr/>
          <p:nvPr/>
        </p:nvSpPr>
        <p:spPr>
          <a:xfrm>
            <a:off x="609585" y="5642484"/>
            <a:ext cx="5410065" cy="159941"/>
          </a:xfrm>
          <a:prstGeom prst="rect">
            <a:avLst/>
          </a:prstGeom>
          <a:noFill/>
          <a:ln/>
        </p:spPr>
        <p:txBody>
          <a:bodyPr wrap="none" lIns="0" tIns="0" rIns="0" bIns="0" rtlCol="0" anchor="t"/>
          <a:lstStyle/>
          <a:p>
            <a:pPr algn="l" indent="0" marL="0">
              <a:lnSpc>
                <a:spcPct val="108000"/>
              </a:lnSpc>
              <a:buNone/>
            </a:pPr>
            <a:r>
              <a:rPr lang="en-US" sz="950" spc="82" kern="100" dirty="0">
                <a:solidFill>
                  <a:srgbClr val="B5B5B5"/>
                </a:solidFill>
                <a:latin typeface="Fira Mono Medium" pitchFamily="34" charset="0"/>
                <a:ea typeface="Fira Mono Medium" pitchFamily="34" charset="-122"/>
                <a:cs typeface="Fira Mono Medium" pitchFamily="34" charset="-120"/>
              </a:rPr>
              <a:t>CONTROL POINT</a:t>
            </a:r>
            <a:endParaRPr lang="en-US" sz="950" dirty="0"/>
          </a:p>
        </p:txBody>
      </p:sp>
      <p:sp>
        <p:nvSpPr>
          <p:cNvPr id="30" name="Text 28"/>
          <p:cNvSpPr/>
          <p:nvPr/>
        </p:nvSpPr>
        <p:spPr>
          <a:xfrm>
            <a:off x="609585" y="5889209"/>
            <a:ext cx="5410065" cy="447675"/>
          </a:xfrm>
          <a:prstGeom prst="rect">
            <a:avLst/>
          </a:prstGeom>
          <a:noFill/>
          <a:ln/>
        </p:spPr>
        <p:txBody>
          <a:bodyPr wrap="square" lIns="0" tIns="0" rIns="0" bIns="0" rtlCol="0" anchor="t">
            <a:normAutofit/>
          </a:bodyPr>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Human approval remains in the loop. MaintenaX suggests; the planner decides.</a:t>
            </a:r>
            <a:endParaRPr lang="en-US" sz="1300" dirty="0"/>
          </a:p>
        </p:txBody>
      </p:sp>
      <p:sp>
        <p:nvSpPr>
          <p:cNvPr id="31" name="Shape 29"/>
          <p:cNvSpPr/>
          <p:nvPr/>
        </p:nvSpPr>
        <p:spPr>
          <a:xfrm>
            <a:off x="6172046" y="5410994"/>
            <a:ext cx="5410065" cy="1153319"/>
          </a:xfrm>
          <a:prstGeom prst="rect">
            <a:avLst/>
          </a:prstGeom>
          <a:solidFill>
            <a:srgbClr val="0E1F40"/>
          </a:solidFill>
          <a:ln/>
        </p:spPr>
      </p:sp>
      <p:sp>
        <p:nvSpPr>
          <p:cNvPr id="32" name="Text 30"/>
          <p:cNvSpPr/>
          <p:nvPr/>
        </p:nvSpPr>
        <p:spPr>
          <a:xfrm>
            <a:off x="6400640" y="5642484"/>
            <a:ext cx="5181470" cy="159941"/>
          </a:xfrm>
          <a:prstGeom prst="rect">
            <a:avLst/>
          </a:prstGeom>
          <a:noFill/>
          <a:ln/>
        </p:spPr>
        <p:txBody>
          <a:bodyPr wrap="none" lIns="0" tIns="0" rIns="0" bIns="0" rtlCol="0" anchor="t"/>
          <a:lstStyle/>
          <a:p>
            <a:pPr algn="l" indent="0" marL="0">
              <a:lnSpc>
                <a:spcPct val="108000"/>
              </a:lnSpc>
              <a:buNone/>
            </a:pPr>
            <a:r>
              <a:rPr lang="en-US" sz="950" spc="82" kern="100" dirty="0">
                <a:solidFill>
                  <a:srgbClr val="D5D5D5"/>
                </a:solidFill>
                <a:latin typeface="Fira Mono Medium" pitchFamily="34" charset="0"/>
                <a:ea typeface="Fira Mono Medium" pitchFamily="34" charset="-122"/>
                <a:cs typeface="Fira Mono Medium" pitchFamily="34" charset="-120"/>
              </a:rPr>
              <a:t>HANDOFF</a:t>
            </a:r>
            <a:endParaRPr lang="en-US" sz="950" dirty="0"/>
          </a:p>
        </p:txBody>
      </p:sp>
      <p:sp>
        <p:nvSpPr>
          <p:cNvPr id="33" name="Text 31"/>
          <p:cNvSpPr/>
          <p:nvPr/>
        </p:nvSpPr>
        <p:spPr>
          <a:xfrm>
            <a:off x="6400640" y="5889209"/>
            <a:ext cx="5181470" cy="223838"/>
          </a:xfrm>
          <a:prstGeom prst="rect">
            <a:avLst/>
          </a:prstGeom>
          <a:noFill/>
          <a:ln/>
        </p:spPr>
        <p:txBody>
          <a:bodyPr wrap="none" lIns="0" tIns="0" rIns="0" bIns="0" rtlCol="0" anchor="t"/>
          <a:lstStyle/>
          <a:p>
            <a:pPr algn="l" indent="0" marL="0">
              <a:lnSpc>
                <a:spcPct val="111000"/>
              </a:lnSpc>
              <a:buNone/>
            </a:pPr>
            <a:r>
              <a:rPr lang="en-US" sz="1300" dirty="0">
                <a:solidFill>
                  <a:srgbClr val="D5D5D5"/>
                </a:solidFill>
                <a:latin typeface="Exo" pitchFamily="34" charset="0"/>
                <a:ea typeface="Exo" pitchFamily="34" charset="-122"/>
                <a:cs typeface="Exo" pitchFamily="34" charset="-120"/>
              </a:rPr>
              <a:t>Planner → MaintenaX → Technician → Audit / Management.</a:t>
            </a:r>
            <a:endParaRPr lang="en-US" sz="1300" dirty="0"/>
          </a:p>
        </p:txBody>
      </p:sp>
      <p:sp>
        <p:nvSpPr>
          <p:cNvPr id="34" name="Text 32"/>
          <p:cNvSpPr/>
          <p:nvPr/>
        </p:nvSpPr>
        <p:spPr>
          <a:xfrm>
            <a:off x="609585" y="6704918"/>
            <a:ext cx="11582110" cy="159941"/>
          </a:xfrm>
          <a:prstGeom prst="rect">
            <a:avLst/>
          </a:prstGeom>
          <a:noFill/>
          <a:ln/>
        </p:spPr>
        <p:txBody>
          <a:bodyPr wrap="none" lIns="0" tIns="0" rIns="0" bIns="0" rtlCol="0" anchor="t"/>
          <a:lstStyle/>
          <a:p>
            <a:pPr algn="l" indent="0" marL="0">
              <a:lnSpc>
                <a:spcPct val="108000"/>
              </a:lnSpc>
              <a:buNone/>
            </a:pPr>
            <a:r>
              <a:rPr lang="en-US" sz="950" spc="82" kern="100" dirty="0">
                <a:solidFill>
                  <a:srgbClr val="B5B5B5"/>
                </a:solidFill>
                <a:latin typeface="Fira Mono Medium" pitchFamily="34" charset="0"/>
                <a:ea typeface="Fira Mono Medium" pitchFamily="34" charset="-122"/>
                <a:cs typeface="Fira Mono Medium" pitchFamily="34" charset="-120"/>
              </a:rPr>
              <a:t>404: NOT FOUND • DQ3-023 • DQBH</a:t>
            </a:r>
            <a:endParaRPr lang="en-US" sz="950" dirty="0"/>
          </a:p>
        </p:txBody>
      </p:sp>
      <p:sp>
        <p:nvSpPr>
          <p:cNvPr id="35" name="Shape 33"/>
          <p:cNvSpPr/>
          <p:nvPr/>
        </p:nvSpPr>
        <p:spPr>
          <a:xfrm>
            <a:off x="3346366" y="2412603"/>
            <a:ext cx="12700" cy="1430338"/>
          </a:xfrm>
          <a:prstGeom prst="rect">
            <a:avLst/>
          </a:prstGeom>
          <a:solidFill>
            <a:srgbClr val="3F3F3F"/>
          </a:solidFill>
          <a:ln/>
        </p:spPr>
      </p:sp>
      <p:sp>
        <p:nvSpPr>
          <p:cNvPr id="36" name="Shape 34"/>
          <p:cNvSpPr/>
          <p:nvPr/>
        </p:nvSpPr>
        <p:spPr>
          <a:xfrm>
            <a:off x="6089498" y="2412603"/>
            <a:ext cx="12700" cy="1430338"/>
          </a:xfrm>
          <a:prstGeom prst="rect">
            <a:avLst/>
          </a:prstGeom>
          <a:solidFill>
            <a:srgbClr val="3F3F3F"/>
          </a:solidFill>
          <a:ln/>
        </p:spPr>
      </p:sp>
      <p:sp>
        <p:nvSpPr>
          <p:cNvPr id="37" name="Shape 35"/>
          <p:cNvSpPr/>
          <p:nvPr/>
        </p:nvSpPr>
        <p:spPr>
          <a:xfrm>
            <a:off x="8832629" y="2412603"/>
            <a:ext cx="12700" cy="1430338"/>
          </a:xfrm>
          <a:prstGeom prst="rect">
            <a:avLst/>
          </a:prstGeom>
          <a:solidFill>
            <a:srgbClr val="3F3F3F"/>
          </a:solidFill>
          <a:ln/>
        </p:spPr>
      </p:sp>
      <p:sp>
        <p:nvSpPr>
          <p:cNvPr id="38" name="Shape 36"/>
          <p:cNvSpPr/>
          <p:nvPr/>
        </p:nvSpPr>
        <p:spPr>
          <a:xfrm>
            <a:off x="609585" y="3836591"/>
            <a:ext cx="2743131" cy="12700"/>
          </a:xfrm>
          <a:prstGeom prst="rect">
            <a:avLst/>
          </a:prstGeom>
          <a:solidFill>
            <a:srgbClr val="3F3F3F"/>
          </a:solidFill>
          <a:ln/>
        </p:spPr>
      </p:sp>
      <p:sp>
        <p:nvSpPr>
          <p:cNvPr id="39" name="Shape 37"/>
          <p:cNvSpPr/>
          <p:nvPr/>
        </p:nvSpPr>
        <p:spPr>
          <a:xfrm>
            <a:off x="3346366" y="3842941"/>
            <a:ext cx="12700" cy="1430338"/>
          </a:xfrm>
          <a:prstGeom prst="rect">
            <a:avLst/>
          </a:prstGeom>
          <a:solidFill>
            <a:srgbClr val="3F3F3F"/>
          </a:solidFill>
          <a:ln/>
        </p:spPr>
      </p:sp>
      <p:sp>
        <p:nvSpPr>
          <p:cNvPr id="40" name="Shape 38"/>
          <p:cNvSpPr/>
          <p:nvPr/>
        </p:nvSpPr>
        <p:spPr>
          <a:xfrm>
            <a:off x="3352716" y="3836591"/>
            <a:ext cx="2743131" cy="12700"/>
          </a:xfrm>
          <a:prstGeom prst="rect">
            <a:avLst/>
          </a:prstGeom>
          <a:solidFill>
            <a:srgbClr val="3F3F3F"/>
          </a:solidFill>
          <a:ln/>
        </p:spPr>
      </p:sp>
      <p:sp>
        <p:nvSpPr>
          <p:cNvPr id="41" name="Shape 39"/>
          <p:cNvSpPr/>
          <p:nvPr/>
        </p:nvSpPr>
        <p:spPr>
          <a:xfrm>
            <a:off x="6089498" y="3842941"/>
            <a:ext cx="12700" cy="1430338"/>
          </a:xfrm>
          <a:prstGeom prst="rect">
            <a:avLst/>
          </a:prstGeom>
          <a:solidFill>
            <a:srgbClr val="3F3F3F"/>
          </a:solidFill>
          <a:ln/>
        </p:spPr>
      </p:sp>
      <p:sp>
        <p:nvSpPr>
          <p:cNvPr id="42" name="Shape 40"/>
          <p:cNvSpPr/>
          <p:nvPr/>
        </p:nvSpPr>
        <p:spPr>
          <a:xfrm>
            <a:off x="6095848" y="3836591"/>
            <a:ext cx="2743131" cy="12700"/>
          </a:xfrm>
          <a:prstGeom prst="rect">
            <a:avLst/>
          </a:prstGeom>
          <a:solidFill>
            <a:srgbClr val="3F3F3F"/>
          </a:solidFill>
          <a:ln/>
        </p:spPr>
      </p:sp>
      <p:sp>
        <p:nvSpPr>
          <p:cNvPr id="43" name="Shape 41"/>
          <p:cNvSpPr/>
          <p:nvPr/>
        </p:nvSpPr>
        <p:spPr>
          <a:xfrm>
            <a:off x="8832629" y="3842941"/>
            <a:ext cx="12700" cy="1430338"/>
          </a:xfrm>
          <a:prstGeom prst="rect">
            <a:avLst/>
          </a:prstGeom>
          <a:solidFill>
            <a:srgbClr val="3F3F3F"/>
          </a:solidFill>
          <a:ln/>
        </p:spPr>
      </p:sp>
      <p:sp>
        <p:nvSpPr>
          <p:cNvPr id="44" name="Shape 42"/>
          <p:cNvSpPr/>
          <p:nvPr/>
        </p:nvSpPr>
        <p:spPr>
          <a:xfrm>
            <a:off x="8838979" y="3836591"/>
            <a:ext cx="2743131" cy="12700"/>
          </a:xfrm>
          <a:prstGeom prst="rect">
            <a:avLst/>
          </a:prstGeom>
          <a:solidFill>
            <a:srgbClr val="3F3F3F"/>
          </a:solidFill>
          <a:ln/>
        </p:spPr>
      </p:sp>
      <p:sp>
        <p:nvSpPr>
          <p:cNvPr id="45" name="Text 43"/>
          <p:cNvSpPr/>
          <p:nvPr/>
        </p:nvSpPr>
        <p:spPr>
          <a:xfrm>
            <a:off x="11841462" y="6469856"/>
            <a:ext cx="350233" cy="166588"/>
          </a:xfrm>
          <a:prstGeom prst="rect">
            <a:avLst/>
          </a:prstGeom>
          <a:noFill/>
          <a:ln/>
        </p:spPr>
        <p:txBody>
          <a:bodyPr wrap="none" lIns="0" tIns="0" rIns="0" bIns="0" rtlCol="0" anchor="ctr"/>
          <a:lstStyle/>
          <a:p>
            <a:pPr algn="l" indent="0" marL="0">
              <a:lnSpc>
                <a:spcPct val="118000"/>
              </a:lnSpc>
              <a:buNone/>
            </a:pPr>
            <a:r>
              <a:rPr lang="en-US" sz="900" spc="74" kern="100" dirty="0">
                <a:solidFill>
                  <a:srgbClr val="9D9D9D"/>
                </a:solidFill>
                <a:latin typeface="Fira Mono" pitchFamily="34" charset="0"/>
                <a:ea typeface="Fira Mono" pitchFamily="34" charset="-122"/>
                <a:cs typeface="Fira Mono"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999"/>
            <a:ext cx="11582110" cy="169862"/>
          </a:xfrm>
          <a:prstGeom prst="rect">
            <a:avLst/>
          </a:prstGeom>
          <a:noFill/>
          <a:ln/>
        </p:spPr>
        <p:txBody>
          <a:bodyPr wrap="none" lIns="0" tIns="0" rIns="0" bIns="0" rtlCol="0" anchor="t"/>
          <a:lstStyle/>
          <a:p>
            <a:pPr algn="l" indent="0" marL="0">
              <a:lnSpc>
                <a:spcPct val="108000"/>
              </a:lnSpc>
              <a:buNone/>
            </a:pPr>
            <a:r>
              <a:rPr lang="en-US" sz="1050" spc="87" kern="100" dirty="0">
                <a:solidFill>
                  <a:srgbClr val="B5B5B5"/>
                </a:solidFill>
                <a:latin typeface="Fira Mono Medium" pitchFamily="34" charset="0"/>
                <a:ea typeface="Fira Mono Medium" pitchFamily="34" charset="-122"/>
                <a:cs typeface="Fira Mono Medium" pitchFamily="34" charset="-120"/>
              </a:rPr>
              <a:t>INTELLIGENCE &amp; COPILOT</a:t>
            </a:r>
            <a:endParaRPr lang="en-US" sz="1050" dirty="0"/>
          </a:p>
        </p:txBody>
      </p:sp>
      <p:sp>
        <p:nvSpPr>
          <p:cNvPr id="3" name="Text 1"/>
          <p:cNvSpPr/>
          <p:nvPr/>
        </p:nvSpPr>
        <p:spPr>
          <a:xfrm>
            <a:off x="609585" y="880484"/>
            <a:ext cx="10972526" cy="444798"/>
          </a:xfrm>
          <a:prstGeom prst="rect">
            <a:avLst/>
          </a:prstGeom>
          <a:noFill/>
          <a:ln/>
        </p:spPr>
        <p:txBody>
          <a:bodyPr wrap="none" lIns="0" tIns="0" rIns="0" bIns="0" rtlCol="0" anchor="t"/>
          <a:lstStyle/>
          <a:p>
            <a:pPr algn="l" indent="0" marL="0">
              <a:lnSpc>
                <a:spcPct val="89000"/>
              </a:lnSpc>
              <a:buNone/>
            </a:pPr>
            <a:r>
              <a:rPr lang="en-US" sz="3250" spc="-39" kern="100" dirty="0">
                <a:solidFill>
                  <a:srgbClr val="ECECEC"/>
                </a:solidFill>
                <a:latin typeface="Exo SemiBold" pitchFamily="34" charset="0"/>
                <a:ea typeface="Exo SemiBold" pitchFamily="34" charset="-122"/>
                <a:cs typeface="Exo SemiBold" pitchFamily="34" charset="-120"/>
              </a:rPr>
              <a:t>Intelligence &amp; Copilot — From Data to Decisions</a:t>
            </a:r>
            <a:endParaRPr lang="en-US" sz="3250" dirty="0"/>
          </a:p>
        </p:txBody>
      </p:sp>
      <p:sp>
        <p:nvSpPr>
          <p:cNvPr id="4" name="Shape 2"/>
          <p:cNvSpPr/>
          <p:nvPr/>
        </p:nvSpPr>
        <p:spPr>
          <a:xfrm>
            <a:off x="609585" y="1510209"/>
            <a:ext cx="2743131" cy="19050"/>
          </a:xfrm>
          <a:prstGeom prst="roundRect">
            <a:avLst>
              <a:gd name="adj" fmla="val 49999"/>
            </a:avLst>
          </a:prstGeom>
          <a:solidFill>
            <a:srgbClr val="9BE1FF"/>
          </a:solidFill>
          <a:ln/>
        </p:spPr>
      </p:sp>
      <p:sp>
        <p:nvSpPr>
          <p:cNvPr id="5" name="Text 3"/>
          <p:cNvSpPr/>
          <p:nvPr/>
        </p:nvSpPr>
        <p:spPr>
          <a:xfrm>
            <a:off x="609585" y="1729894"/>
            <a:ext cx="11582110" cy="244773"/>
          </a:xfrm>
          <a:prstGeom prst="rect">
            <a:avLst/>
          </a:prstGeom>
          <a:noFill/>
          <a:ln/>
        </p:spPr>
        <p:txBody>
          <a:bodyPr wrap="none" lIns="0" tIns="0" rIns="0" bIns="0" rtlCol="0" anchor="t"/>
          <a:lstStyle/>
          <a:p>
            <a:pPr algn="l" indent="0" marL="0">
              <a:lnSpc>
                <a:spcPct val="115000"/>
              </a:lnSpc>
              <a:buNone/>
            </a:pPr>
            <a:r>
              <a:rPr lang="en-US" sz="1400" dirty="0">
                <a:solidFill>
                  <a:srgbClr val="D5D5D5"/>
                </a:solidFill>
                <a:latin typeface="Exo" pitchFamily="34" charset="0"/>
                <a:ea typeface="Exo" pitchFamily="34" charset="-122"/>
                <a:cs typeface="Exo" pitchFamily="34" charset="-120"/>
              </a:rPr>
              <a:t>Separate the calculation, the explanation, the scenario comparison, and the approval.</a:t>
            </a:r>
            <a:endParaRPr lang="en-US" sz="1400" dirty="0"/>
          </a:p>
        </p:txBody>
      </p:sp>
      <p:sp>
        <p:nvSpPr>
          <p:cNvPr id="6" name="Shape 4"/>
          <p:cNvSpPr/>
          <p:nvPr/>
        </p:nvSpPr>
        <p:spPr>
          <a:xfrm>
            <a:off x="609585" y="2129433"/>
            <a:ext cx="2628834" cy="2921397"/>
          </a:xfrm>
          <a:prstGeom prst="rect">
            <a:avLst/>
          </a:prstGeom>
          <a:solidFill>
            <a:srgbClr val="0E1F40"/>
          </a:solidFill>
          <a:ln/>
        </p:spPr>
      </p:sp>
      <p:sp>
        <p:nvSpPr>
          <p:cNvPr id="7" name="Text 5"/>
          <p:cNvSpPr/>
          <p:nvPr/>
        </p:nvSpPr>
        <p:spPr>
          <a:xfrm>
            <a:off x="838179" y="2277666"/>
            <a:ext cx="791151" cy="178197"/>
          </a:xfrm>
          <a:prstGeom prst="rect">
            <a:avLst/>
          </a:prstGeom>
          <a:noFill/>
          <a:ln/>
        </p:spPr>
        <p:txBody>
          <a:bodyPr wrap="none" lIns="0" tIns="0" rIns="0" bIns="0" rtlCol="0" anchor="t"/>
          <a:lstStyle/>
          <a:p>
            <a:pPr algn="l" indent="0" marL="0">
              <a:lnSpc>
                <a:spcPct val="83000"/>
              </a:lnSpc>
              <a:buNone/>
            </a:pPr>
            <a:r>
              <a:rPr lang="en-US" sz="1400" dirty="0">
                <a:solidFill>
                  <a:srgbClr val="D5D5D5"/>
                </a:solidFill>
                <a:latin typeface="Exo SemiBold" pitchFamily="34" charset="0"/>
                <a:ea typeface="Exo SemiBold" pitchFamily="34" charset="-122"/>
                <a:cs typeface="Exo SemiBold" pitchFamily="34" charset="-120"/>
              </a:rPr>
              <a:t>01</a:t>
            </a:r>
            <a:endParaRPr lang="en-US" sz="1400" dirty="0"/>
          </a:p>
        </p:txBody>
      </p:sp>
      <p:sp>
        <p:nvSpPr>
          <p:cNvPr id="8" name="Text 6"/>
          <p:cNvSpPr/>
          <p:nvPr/>
        </p:nvSpPr>
        <p:spPr>
          <a:xfrm>
            <a:off x="1197838" y="2282232"/>
            <a:ext cx="2040581" cy="169862"/>
          </a:xfrm>
          <a:prstGeom prst="rect">
            <a:avLst/>
          </a:prstGeom>
          <a:noFill/>
          <a:ln/>
        </p:spPr>
        <p:txBody>
          <a:bodyPr wrap="none" lIns="0" tIns="0" rIns="0" bIns="0" rtlCol="0" anchor="t"/>
          <a:lstStyle/>
          <a:p>
            <a:pPr algn="l" indent="0" marL="0">
              <a:lnSpc>
                <a:spcPct val="108000"/>
              </a:lnSpc>
              <a:buNone/>
            </a:pPr>
            <a:r>
              <a:rPr lang="en-US" sz="1050" spc="87" kern="100" dirty="0">
                <a:solidFill>
                  <a:srgbClr val="D5D5D5"/>
                </a:solidFill>
                <a:latin typeface="Fira Mono Medium" pitchFamily="34" charset="0"/>
                <a:ea typeface="Fira Mono Medium" pitchFamily="34" charset="-122"/>
                <a:cs typeface="Fira Mono Medium" pitchFamily="34" charset="-120"/>
              </a:rPr>
              <a:t>RECOMMEND</a:t>
            </a:r>
            <a:endParaRPr lang="en-US" sz="1050" dirty="0"/>
          </a:p>
        </p:txBody>
      </p:sp>
      <p:sp>
        <p:nvSpPr>
          <p:cNvPr id="9" name="Text 7"/>
          <p:cNvSpPr/>
          <p:nvPr/>
        </p:nvSpPr>
        <p:spPr>
          <a:xfrm>
            <a:off x="1197838" y="2523069"/>
            <a:ext cx="1811987" cy="783828"/>
          </a:xfrm>
          <a:prstGeom prst="rect">
            <a:avLst/>
          </a:prstGeom>
          <a:noFill/>
          <a:ln/>
        </p:spPr>
        <p:txBody>
          <a:bodyPr wrap="square" lIns="0" tIns="0" rIns="0" bIns="0" rtlCol="0" anchor="t">
            <a:normAutofit/>
          </a:bodyPr>
          <a:lstStyle/>
          <a:p>
            <a:pPr algn="l" indent="0" marL="0">
              <a:lnSpc>
                <a:spcPct val="110000"/>
              </a:lnSpc>
              <a:buNone/>
            </a:pPr>
            <a:r>
              <a:rPr lang="en-US" sz="2350" dirty="0">
                <a:solidFill>
                  <a:srgbClr val="D5D5D5"/>
                </a:solidFill>
                <a:latin typeface="Exo" pitchFamily="34" charset="0"/>
                <a:ea typeface="Exo" pitchFamily="34" charset="-122"/>
                <a:cs typeface="Exo" pitchFamily="34" charset="-120"/>
              </a:rPr>
              <a:t>Compute options</a:t>
            </a:r>
            <a:endParaRPr lang="en-US" sz="2350" dirty="0"/>
          </a:p>
        </p:txBody>
      </p:sp>
      <p:sp>
        <p:nvSpPr>
          <p:cNvPr id="10" name="Text 8"/>
          <p:cNvSpPr/>
          <p:nvPr/>
        </p:nvSpPr>
        <p:spPr>
          <a:xfrm>
            <a:off x="1197838" y="3430503"/>
            <a:ext cx="1811987" cy="1223863"/>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D5D5D5"/>
                </a:solidFill>
                <a:latin typeface="Exo" pitchFamily="34" charset="0"/>
                <a:ea typeface="Exo" pitchFamily="34" charset="-122"/>
                <a:cs typeface="Exo" pitchFamily="34" charset="-120"/>
              </a:rPr>
              <a:t>RandomForest repair-time prediction, compatibility scoring, ripple strategy, and SLA forecasting.</a:t>
            </a:r>
            <a:endParaRPr lang="en-US" sz="1400" dirty="0"/>
          </a:p>
        </p:txBody>
      </p:sp>
      <p:sp>
        <p:nvSpPr>
          <p:cNvPr id="11" name="Shape 9"/>
          <p:cNvSpPr/>
          <p:nvPr/>
        </p:nvSpPr>
        <p:spPr>
          <a:xfrm>
            <a:off x="3390815" y="2129433"/>
            <a:ext cx="2628834" cy="2921397"/>
          </a:xfrm>
          <a:prstGeom prst="rect">
            <a:avLst/>
          </a:prstGeom>
          <a:solidFill>
            <a:srgbClr val="241B55"/>
          </a:solidFill>
          <a:ln/>
        </p:spPr>
      </p:sp>
      <p:sp>
        <p:nvSpPr>
          <p:cNvPr id="12" name="Text 10"/>
          <p:cNvSpPr/>
          <p:nvPr/>
        </p:nvSpPr>
        <p:spPr>
          <a:xfrm>
            <a:off x="3619409" y="2277666"/>
            <a:ext cx="830341" cy="178197"/>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Exo SemiBold" pitchFamily="34" charset="0"/>
                <a:ea typeface="Exo SemiBold" pitchFamily="34" charset="-122"/>
                <a:cs typeface="Exo SemiBold" pitchFamily="34" charset="-120"/>
              </a:rPr>
              <a:t>02</a:t>
            </a:r>
            <a:endParaRPr lang="en-US" sz="1400" dirty="0"/>
          </a:p>
        </p:txBody>
      </p:sp>
      <p:sp>
        <p:nvSpPr>
          <p:cNvPr id="13" name="Text 11"/>
          <p:cNvSpPr/>
          <p:nvPr/>
        </p:nvSpPr>
        <p:spPr>
          <a:xfrm>
            <a:off x="4018259" y="2282232"/>
            <a:ext cx="2001391" cy="169862"/>
          </a:xfrm>
          <a:prstGeom prst="rect">
            <a:avLst/>
          </a:prstGeom>
          <a:noFill/>
          <a:ln/>
        </p:spPr>
        <p:txBody>
          <a:bodyPr wrap="none" lIns="0" tIns="0" rIns="0" bIns="0" rtlCol="0" anchor="t"/>
          <a:lstStyle/>
          <a:p>
            <a:pPr algn="l" indent="0" marL="0">
              <a:lnSpc>
                <a:spcPct val="108000"/>
              </a:lnSpc>
              <a:buNone/>
            </a:pPr>
            <a:r>
              <a:rPr lang="en-US" sz="1050" spc="87" kern="100" dirty="0">
                <a:solidFill>
                  <a:srgbClr val="FFFFFF"/>
                </a:solidFill>
                <a:latin typeface="Fira Mono Medium" pitchFamily="34" charset="0"/>
                <a:ea typeface="Fira Mono Medium" pitchFamily="34" charset="-122"/>
                <a:cs typeface="Fira Mono Medium" pitchFamily="34" charset="-120"/>
              </a:rPr>
              <a:t>EXPLAIN</a:t>
            </a:r>
            <a:endParaRPr lang="en-US" sz="1050" dirty="0"/>
          </a:p>
        </p:txBody>
      </p:sp>
      <p:sp>
        <p:nvSpPr>
          <p:cNvPr id="14" name="Text 12"/>
          <p:cNvSpPr/>
          <p:nvPr/>
        </p:nvSpPr>
        <p:spPr>
          <a:xfrm>
            <a:off x="4018259" y="2523069"/>
            <a:ext cx="1772796" cy="783828"/>
          </a:xfrm>
          <a:prstGeom prst="rect">
            <a:avLst/>
          </a:prstGeom>
          <a:noFill/>
          <a:ln/>
        </p:spPr>
        <p:txBody>
          <a:bodyPr wrap="square" lIns="0" tIns="0" rIns="0" bIns="0" rtlCol="0" anchor="t">
            <a:normAutofit/>
          </a:bodyPr>
          <a:lstStyle/>
          <a:p>
            <a:pPr algn="l" indent="0" marL="0">
              <a:lnSpc>
                <a:spcPct val="110000"/>
              </a:lnSpc>
              <a:buNone/>
            </a:pPr>
            <a:r>
              <a:rPr lang="en-US" sz="2350" dirty="0">
                <a:solidFill>
                  <a:srgbClr val="FFFFFF"/>
                </a:solidFill>
                <a:latin typeface="Exo" pitchFamily="34" charset="0"/>
                <a:ea typeface="Exo" pitchFamily="34" charset="-122"/>
                <a:cs typeface="Exo" pitchFamily="34" charset="-120"/>
              </a:rPr>
              <a:t>Make context clear</a:t>
            </a:r>
            <a:endParaRPr lang="en-US" sz="2350" dirty="0"/>
          </a:p>
        </p:txBody>
      </p:sp>
      <p:sp>
        <p:nvSpPr>
          <p:cNvPr id="15" name="Text 13"/>
          <p:cNvSpPr/>
          <p:nvPr/>
        </p:nvSpPr>
        <p:spPr>
          <a:xfrm>
            <a:off x="4018259" y="3430503"/>
            <a:ext cx="1772796" cy="1468636"/>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FFFFFF"/>
                </a:solidFill>
                <a:latin typeface="Exo" pitchFamily="34" charset="0"/>
                <a:ea typeface="Exo" pitchFamily="34" charset="-122"/>
                <a:cs typeface="Exo" pitchFamily="34" charset="-120"/>
              </a:rPr>
              <a:t>Ollama Qwen 2.5 3B turns the recommendation into a natural-language explanation.</a:t>
            </a:r>
            <a:endParaRPr lang="en-US" sz="1400" dirty="0"/>
          </a:p>
        </p:txBody>
      </p:sp>
      <p:sp>
        <p:nvSpPr>
          <p:cNvPr id="16" name="Shape 14"/>
          <p:cNvSpPr/>
          <p:nvPr/>
        </p:nvSpPr>
        <p:spPr>
          <a:xfrm>
            <a:off x="6172046" y="2129433"/>
            <a:ext cx="2628834" cy="2921397"/>
          </a:xfrm>
          <a:prstGeom prst="rect">
            <a:avLst/>
          </a:prstGeom>
          <a:solidFill>
            <a:srgbClr val="241B55"/>
          </a:solidFill>
          <a:ln/>
        </p:spPr>
      </p:sp>
      <p:sp>
        <p:nvSpPr>
          <p:cNvPr id="17" name="Text 15"/>
          <p:cNvSpPr/>
          <p:nvPr/>
        </p:nvSpPr>
        <p:spPr>
          <a:xfrm>
            <a:off x="6400640" y="2277666"/>
            <a:ext cx="828853" cy="178197"/>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Exo SemiBold" pitchFamily="34" charset="0"/>
                <a:ea typeface="Exo SemiBold" pitchFamily="34" charset="-122"/>
                <a:cs typeface="Exo SemiBold" pitchFamily="34" charset="-120"/>
              </a:rPr>
              <a:t>03</a:t>
            </a:r>
            <a:endParaRPr lang="en-US" sz="1400" dirty="0"/>
          </a:p>
        </p:txBody>
      </p:sp>
      <p:sp>
        <p:nvSpPr>
          <p:cNvPr id="18" name="Text 16"/>
          <p:cNvSpPr/>
          <p:nvPr/>
        </p:nvSpPr>
        <p:spPr>
          <a:xfrm>
            <a:off x="6798001" y="2282232"/>
            <a:ext cx="2002879" cy="169862"/>
          </a:xfrm>
          <a:prstGeom prst="rect">
            <a:avLst/>
          </a:prstGeom>
          <a:noFill/>
          <a:ln/>
        </p:spPr>
        <p:txBody>
          <a:bodyPr wrap="none" lIns="0" tIns="0" rIns="0" bIns="0" rtlCol="0" anchor="t"/>
          <a:lstStyle/>
          <a:p>
            <a:pPr algn="l" indent="0" marL="0">
              <a:lnSpc>
                <a:spcPct val="108000"/>
              </a:lnSpc>
              <a:buNone/>
            </a:pPr>
            <a:r>
              <a:rPr lang="en-US" sz="1050" spc="87" kern="100" dirty="0">
                <a:solidFill>
                  <a:srgbClr val="FFFFFF"/>
                </a:solidFill>
                <a:latin typeface="Fira Mono Medium" pitchFamily="34" charset="0"/>
                <a:ea typeface="Fira Mono Medium" pitchFamily="34" charset="-122"/>
                <a:cs typeface="Fira Mono Medium" pitchFamily="34" charset="-120"/>
              </a:rPr>
              <a:t>SIMULATE</a:t>
            </a:r>
            <a:endParaRPr lang="en-US" sz="1050" dirty="0"/>
          </a:p>
        </p:txBody>
      </p:sp>
      <p:sp>
        <p:nvSpPr>
          <p:cNvPr id="19" name="Text 17"/>
          <p:cNvSpPr/>
          <p:nvPr/>
        </p:nvSpPr>
        <p:spPr>
          <a:xfrm>
            <a:off x="6798001" y="2523069"/>
            <a:ext cx="1774285" cy="783828"/>
          </a:xfrm>
          <a:prstGeom prst="rect">
            <a:avLst/>
          </a:prstGeom>
          <a:noFill/>
          <a:ln/>
        </p:spPr>
        <p:txBody>
          <a:bodyPr wrap="square" lIns="0" tIns="0" rIns="0" bIns="0" rtlCol="0" anchor="t">
            <a:normAutofit/>
          </a:bodyPr>
          <a:lstStyle/>
          <a:p>
            <a:pPr algn="l" indent="0" marL="0">
              <a:lnSpc>
                <a:spcPct val="110000"/>
              </a:lnSpc>
              <a:buNone/>
            </a:pPr>
            <a:r>
              <a:rPr lang="en-US" sz="2350" dirty="0">
                <a:solidFill>
                  <a:srgbClr val="FFFFFF"/>
                </a:solidFill>
                <a:latin typeface="Exo" pitchFamily="34" charset="0"/>
                <a:ea typeface="Exo" pitchFamily="34" charset="-122"/>
                <a:cs typeface="Exo" pitchFamily="34" charset="-120"/>
              </a:rPr>
              <a:t>Compare scenarios</a:t>
            </a:r>
            <a:endParaRPr lang="en-US" sz="2350" dirty="0"/>
          </a:p>
        </p:txBody>
      </p:sp>
      <p:sp>
        <p:nvSpPr>
          <p:cNvPr id="20" name="Text 18"/>
          <p:cNvSpPr/>
          <p:nvPr/>
        </p:nvSpPr>
        <p:spPr>
          <a:xfrm>
            <a:off x="6798001" y="3430503"/>
            <a:ext cx="1774285" cy="1223863"/>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FFFFFF"/>
                </a:solidFill>
                <a:latin typeface="Exo" pitchFamily="34" charset="0"/>
                <a:ea typeface="Exo" pitchFamily="34" charset="-122"/>
                <a:cs typeface="Exo" pitchFamily="34" charset="-120"/>
              </a:rPr>
              <a:t>Test recovery paths and inspect repair time, compatibility, ripple impact, and SLA risk.</a:t>
            </a:r>
            <a:endParaRPr lang="en-US" sz="1400" dirty="0"/>
          </a:p>
        </p:txBody>
      </p:sp>
      <p:sp>
        <p:nvSpPr>
          <p:cNvPr id="21" name="Text 19"/>
          <p:cNvSpPr/>
          <p:nvPr/>
        </p:nvSpPr>
        <p:spPr>
          <a:xfrm>
            <a:off x="9181870" y="2277666"/>
            <a:ext cx="834012" cy="178197"/>
          </a:xfrm>
          <a:prstGeom prst="rect">
            <a:avLst/>
          </a:prstGeom>
          <a:noFill/>
          <a:ln/>
        </p:spPr>
        <p:txBody>
          <a:bodyPr wrap="none" lIns="0" tIns="0" rIns="0" bIns="0" rtlCol="0" anchor="t"/>
          <a:lstStyle/>
          <a:p>
            <a:pPr algn="l" indent="0" marL="0">
              <a:lnSpc>
                <a:spcPct val="83000"/>
              </a:lnSpc>
              <a:buNone/>
            </a:pPr>
            <a:r>
              <a:rPr lang="en-US" sz="1400" dirty="0">
                <a:solidFill>
                  <a:srgbClr val="D5D5D5"/>
                </a:solidFill>
                <a:latin typeface="Exo SemiBold" pitchFamily="34" charset="0"/>
                <a:ea typeface="Exo SemiBold" pitchFamily="34" charset="-122"/>
                <a:cs typeface="Exo SemiBold" pitchFamily="34" charset="-120"/>
              </a:rPr>
              <a:t>04</a:t>
            </a:r>
            <a:endParaRPr lang="en-US" sz="1400" dirty="0"/>
          </a:p>
        </p:txBody>
      </p:sp>
      <p:sp>
        <p:nvSpPr>
          <p:cNvPr id="22" name="Text 20"/>
          <p:cNvSpPr/>
          <p:nvPr/>
        </p:nvSpPr>
        <p:spPr>
          <a:xfrm>
            <a:off x="9584391" y="2282232"/>
            <a:ext cx="1997720" cy="169862"/>
          </a:xfrm>
          <a:prstGeom prst="rect">
            <a:avLst/>
          </a:prstGeom>
          <a:noFill/>
          <a:ln/>
        </p:spPr>
        <p:txBody>
          <a:bodyPr wrap="none" lIns="0" tIns="0" rIns="0" bIns="0" rtlCol="0" anchor="t"/>
          <a:lstStyle/>
          <a:p>
            <a:pPr algn="l" indent="0" marL="0">
              <a:lnSpc>
                <a:spcPct val="108000"/>
              </a:lnSpc>
              <a:buNone/>
            </a:pPr>
            <a:r>
              <a:rPr lang="en-US" sz="1050" spc="87" kern="100" dirty="0">
                <a:solidFill>
                  <a:srgbClr val="D5D5D5"/>
                </a:solidFill>
                <a:latin typeface="Fira Mono Medium" pitchFamily="34" charset="0"/>
                <a:ea typeface="Fira Mono Medium" pitchFamily="34" charset="-122"/>
                <a:cs typeface="Fira Mono Medium" pitchFamily="34" charset="-120"/>
              </a:rPr>
              <a:t>APPROVE</a:t>
            </a:r>
            <a:endParaRPr lang="en-US" sz="1050" dirty="0"/>
          </a:p>
        </p:txBody>
      </p:sp>
      <p:sp>
        <p:nvSpPr>
          <p:cNvPr id="23" name="Text 21"/>
          <p:cNvSpPr/>
          <p:nvPr/>
        </p:nvSpPr>
        <p:spPr>
          <a:xfrm>
            <a:off x="9584391" y="2523069"/>
            <a:ext cx="1769125" cy="1175742"/>
          </a:xfrm>
          <a:prstGeom prst="rect">
            <a:avLst/>
          </a:prstGeom>
          <a:noFill/>
          <a:ln/>
        </p:spPr>
        <p:txBody>
          <a:bodyPr wrap="square" lIns="0" tIns="0" rIns="0" bIns="0" rtlCol="0" anchor="t">
            <a:normAutofit/>
          </a:bodyPr>
          <a:lstStyle/>
          <a:p>
            <a:pPr algn="l" indent="0" marL="0">
              <a:lnSpc>
                <a:spcPct val="110000"/>
              </a:lnSpc>
              <a:buNone/>
            </a:pPr>
            <a:r>
              <a:rPr lang="en-US" sz="2350" dirty="0">
                <a:solidFill>
                  <a:srgbClr val="D5D5D5"/>
                </a:solidFill>
                <a:latin typeface="Exo" pitchFamily="34" charset="0"/>
                <a:ea typeface="Exo" pitchFamily="34" charset="-122"/>
                <a:cs typeface="Exo" pitchFamily="34" charset="-120"/>
              </a:rPr>
              <a:t>Keep humans in control</a:t>
            </a:r>
            <a:endParaRPr lang="en-US" sz="2350" dirty="0"/>
          </a:p>
        </p:txBody>
      </p:sp>
      <p:sp>
        <p:nvSpPr>
          <p:cNvPr id="24" name="Text 22"/>
          <p:cNvSpPr/>
          <p:nvPr/>
        </p:nvSpPr>
        <p:spPr>
          <a:xfrm>
            <a:off x="9584391" y="3822417"/>
            <a:ext cx="1769125" cy="979091"/>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D5D5D5"/>
                </a:solidFill>
                <a:latin typeface="Exo" pitchFamily="34" charset="0"/>
                <a:ea typeface="Exo" pitchFamily="34" charset="-122"/>
                <a:cs typeface="Exo" pitchFamily="34" charset="-120"/>
              </a:rPr>
              <a:t>A manager reviews the scenario before any operational change is made.</a:t>
            </a:r>
            <a:endParaRPr lang="en-US" sz="1400" dirty="0"/>
          </a:p>
        </p:txBody>
      </p:sp>
      <p:sp>
        <p:nvSpPr>
          <p:cNvPr id="25" name="Text 23"/>
          <p:cNvSpPr/>
          <p:nvPr/>
        </p:nvSpPr>
        <p:spPr>
          <a:xfrm>
            <a:off x="609585" y="5206704"/>
            <a:ext cx="5486263" cy="169862"/>
          </a:xfrm>
          <a:prstGeom prst="rect">
            <a:avLst/>
          </a:prstGeom>
          <a:noFill/>
          <a:ln/>
        </p:spPr>
        <p:txBody>
          <a:bodyPr wrap="none" lIns="0" tIns="0" rIns="0" bIns="0" rtlCol="0" anchor="t"/>
          <a:lstStyle/>
          <a:p>
            <a:pPr algn="l" indent="0" marL="0">
              <a:lnSpc>
                <a:spcPct val="108000"/>
              </a:lnSpc>
              <a:buNone/>
            </a:pPr>
            <a:r>
              <a:rPr lang="en-US" sz="1050" spc="87" kern="100" dirty="0">
                <a:solidFill>
                  <a:srgbClr val="B5B5B5"/>
                </a:solidFill>
                <a:latin typeface="Fira Mono Medium" pitchFamily="34" charset="0"/>
                <a:ea typeface="Fira Mono Medium" pitchFamily="34" charset="-122"/>
                <a:cs typeface="Fira Mono Medium" pitchFamily="34" charset="-120"/>
              </a:rPr>
              <a:t>OPERATING MODEL</a:t>
            </a:r>
            <a:endParaRPr lang="en-US" sz="1050" dirty="0"/>
          </a:p>
        </p:txBody>
      </p:sp>
      <p:sp>
        <p:nvSpPr>
          <p:cNvPr id="26" name="Text 24"/>
          <p:cNvSpPr/>
          <p:nvPr/>
        </p:nvSpPr>
        <p:spPr>
          <a:xfrm>
            <a:off x="609585" y="5476791"/>
            <a:ext cx="5257668" cy="734318"/>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D5D5D5"/>
                </a:solidFill>
                <a:latin typeface="Exo Bold" pitchFamily="34" charset="0"/>
                <a:ea typeface="Exo Bold" pitchFamily="34" charset="-122"/>
                <a:cs typeface="Exo Bold" pitchFamily="34" charset="-120"/>
              </a:rPr>
              <a:t>The operational engine calculates.</a:t>
            </a:r>
            <a:pPr algn="l" indent="0" marL="0">
              <a:lnSpc>
                <a:spcPct val="115000"/>
              </a:lnSpc>
              <a:buNone/>
            </a:pPr>
            <a:r>
              <a:rPr lang="en-US" sz="1400" dirty="0">
                <a:solidFill>
                  <a:srgbClr val="D5D5D5"/>
                </a:solidFill>
                <a:latin typeface="Exo" pitchFamily="34" charset="0"/>
                <a:ea typeface="Exo" pitchFamily="34" charset="-122"/>
                <a:cs typeface="Exo" pitchFamily="34" charset="-120"/>
              </a:rPr>
              <a:t> Ollama explains, not decides. Recommendations remain proposed options, not automatic assignments.</a:t>
            </a:r>
            <a:endParaRPr lang="en-US" sz="1400" dirty="0"/>
          </a:p>
        </p:txBody>
      </p:sp>
      <p:sp>
        <p:nvSpPr>
          <p:cNvPr id="27" name="Text 25"/>
          <p:cNvSpPr/>
          <p:nvPr/>
        </p:nvSpPr>
        <p:spPr>
          <a:xfrm>
            <a:off x="6324442" y="5206704"/>
            <a:ext cx="5257668" cy="169862"/>
          </a:xfrm>
          <a:prstGeom prst="rect">
            <a:avLst/>
          </a:prstGeom>
          <a:noFill/>
          <a:ln/>
        </p:spPr>
        <p:txBody>
          <a:bodyPr wrap="none" lIns="0" tIns="0" rIns="0" bIns="0" rtlCol="0" anchor="t"/>
          <a:lstStyle/>
          <a:p>
            <a:pPr algn="l" indent="0" marL="0">
              <a:lnSpc>
                <a:spcPct val="108000"/>
              </a:lnSpc>
              <a:buNone/>
            </a:pPr>
            <a:r>
              <a:rPr lang="en-US" sz="1050" spc="87" kern="100" dirty="0">
                <a:solidFill>
                  <a:srgbClr val="B5B5B5"/>
                </a:solidFill>
                <a:latin typeface="Fira Mono Medium" pitchFamily="34" charset="0"/>
                <a:ea typeface="Fira Mono Medium" pitchFamily="34" charset="-122"/>
                <a:cs typeface="Fira Mono Medium" pitchFamily="34" charset="-120"/>
              </a:rPr>
              <a:t>PROTOTYPE BOUNDARY</a:t>
            </a:r>
            <a:endParaRPr lang="en-US" sz="1050" dirty="0"/>
          </a:p>
        </p:txBody>
      </p:sp>
      <p:sp>
        <p:nvSpPr>
          <p:cNvPr id="28" name="Text 26"/>
          <p:cNvSpPr/>
          <p:nvPr/>
        </p:nvSpPr>
        <p:spPr>
          <a:xfrm>
            <a:off x="6324442" y="5476791"/>
            <a:ext cx="5257668" cy="734318"/>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D5D5D5"/>
                </a:solidFill>
                <a:latin typeface="Exo" pitchFamily="34" charset="0"/>
                <a:ea typeface="Exo" pitchFamily="34" charset="-122"/>
                <a:cs typeface="Exo" pitchFamily="34" charset="-120"/>
              </a:rPr>
              <a:t>These are scenario estimates and explanations for a prototype — not measured production accuracy, savings, or fully autonomous decisions.</a:t>
            </a:r>
            <a:endParaRPr lang="en-US" sz="1400" dirty="0"/>
          </a:p>
        </p:txBody>
      </p:sp>
      <p:sp>
        <p:nvSpPr>
          <p:cNvPr id="29" name="Text 27"/>
          <p:cNvSpPr/>
          <p:nvPr/>
        </p:nvSpPr>
        <p:spPr>
          <a:xfrm>
            <a:off x="609585" y="6366274"/>
            <a:ext cx="11582110" cy="169862"/>
          </a:xfrm>
          <a:prstGeom prst="rect">
            <a:avLst/>
          </a:prstGeom>
          <a:noFill/>
          <a:ln/>
        </p:spPr>
        <p:txBody>
          <a:bodyPr wrap="none" lIns="0" tIns="0" rIns="0" bIns="0" rtlCol="0" anchor="t"/>
          <a:lstStyle/>
          <a:p>
            <a:pPr algn="l" indent="0" marL="0">
              <a:lnSpc>
                <a:spcPct val="108000"/>
              </a:lnSpc>
              <a:buNone/>
            </a:pPr>
            <a:r>
              <a:rPr lang="en-US" sz="1050" spc="87" kern="100" dirty="0">
                <a:solidFill>
                  <a:srgbClr val="B5B5B5"/>
                </a:solidFill>
                <a:latin typeface="Fira Mono Medium" pitchFamily="34" charset="0"/>
                <a:ea typeface="Fira Mono Medium" pitchFamily="34" charset="-122"/>
                <a:cs typeface="Fira Mono Medium" pitchFamily="34" charset="-120"/>
              </a:rPr>
              <a:t>DATA → INTELLIGENCE → SCENARIO ANALYSIS → HUMAN DECISION</a:t>
            </a:r>
            <a:endParaRPr lang="en-US" sz="1050" dirty="0"/>
          </a:p>
        </p:txBody>
      </p:sp>
      <p:sp>
        <p:nvSpPr>
          <p:cNvPr id="30" name="Shape 28"/>
          <p:cNvSpPr/>
          <p:nvPr/>
        </p:nvSpPr>
        <p:spPr>
          <a:xfrm>
            <a:off x="6089498" y="5206305"/>
            <a:ext cx="12700" cy="1004094"/>
          </a:xfrm>
          <a:prstGeom prst="rect">
            <a:avLst/>
          </a:prstGeom>
          <a:solidFill>
            <a:srgbClr val="3F3F3F"/>
          </a:solidFill>
          <a:ln/>
        </p:spPr>
      </p:sp>
      <p:sp>
        <p:nvSpPr>
          <p:cNvPr id="31" name="Text 29"/>
          <p:cNvSpPr/>
          <p:nvPr/>
        </p:nvSpPr>
        <p:spPr>
          <a:xfrm>
            <a:off x="11831441" y="6464697"/>
            <a:ext cx="360254" cy="177006"/>
          </a:xfrm>
          <a:prstGeom prst="rect">
            <a:avLst/>
          </a:prstGeom>
          <a:noFill/>
          <a:ln/>
        </p:spPr>
        <p:txBody>
          <a:bodyPr wrap="none" lIns="0" tIns="0" rIns="0" bIns="0" rtlCol="0" anchor="ctr"/>
          <a:lstStyle/>
          <a:p>
            <a:pPr algn="l" indent="0" marL="0">
              <a:lnSpc>
                <a:spcPct val="118000"/>
              </a:lnSpc>
              <a:buNone/>
            </a:pPr>
            <a:r>
              <a:rPr lang="en-US" sz="1000" spc="79" kern="100" dirty="0">
                <a:solidFill>
                  <a:srgbClr val="9D9D9D"/>
                </a:solidFill>
                <a:latin typeface="Fira Mono" pitchFamily="34" charset="0"/>
                <a:ea typeface="Fira Mono" pitchFamily="34" charset="-122"/>
                <a:cs typeface="Fira Mono"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1822"/>
            <a:ext cx="3860703"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THE TECHNICAL FOUNDATION</a:t>
            </a:r>
            <a:endParaRPr lang="en-US" sz="1100" dirty="0"/>
          </a:p>
        </p:txBody>
      </p:sp>
      <p:sp>
        <p:nvSpPr>
          <p:cNvPr id="3" name="Text 1"/>
          <p:cNvSpPr/>
          <p:nvPr/>
        </p:nvSpPr>
        <p:spPr>
          <a:xfrm>
            <a:off x="609585" y="911566"/>
            <a:ext cx="3251119" cy="2989461"/>
          </a:xfrm>
          <a:prstGeom prst="rect">
            <a:avLst/>
          </a:prstGeom>
          <a:noFill/>
          <a:ln/>
        </p:spPr>
        <p:txBody>
          <a:bodyPr wrap="square" lIns="0" tIns="0" rIns="0" bIns="0" rtlCol="0" anchor="t">
            <a:normAutofit/>
          </a:bodyPr>
          <a:lstStyle/>
          <a:p>
            <a:pPr algn="l" indent="0" marL="0">
              <a:lnSpc>
                <a:spcPct val="89000"/>
              </a:lnSpc>
              <a:buNone/>
            </a:pPr>
            <a:r>
              <a:rPr lang="en-US" sz="4400" spc="-53" kern="100" dirty="0">
                <a:solidFill>
                  <a:srgbClr val="ECECEC"/>
                </a:solidFill>
                <a:latin typeface="Exo SemiBold" pitchFamily="34" charset="0"/>
                <a:ea typeface="Exo SemiBold" pitchFamily="34" charset="-122"/>
                <a:cs typeface="Exo SemiBold" pitchFamily="34" charset="-120"/>
              </a:rPr>
              <a:t>Connected architecture for a scenario-based MVP</a:t>
            </a:r>
            <a:endParaRPr lang="en-US" sz="4400" dirty="0"/>
          </a:p>
        </p:txBody>
      </p:sp>
      <p:sp>
        <p:nvSpPr>
          <p:cNvPr id="4" name="Shape 2"/>
          <p:cNvSpPr/>
          <p:nvPr/>
        </p:nvSpPr>
        <p:spPr>
          <a:xfrm>
            <a:off x="609585" y="4102894"/>
            <a:ext cx="812680" cy="31651"/>
          </a:xfrm>
          <a:prstGeom prst="roundRect">
            <a:avLst>
              <a:gd name="adj" fmla="val 49998"/>
            </a:avLst>
          </a:prstGeom>
          <a:solidFill>
            <a:srgbClr val="9BE1FF"/>
          </a:solidFill>
          <a:ln/>
        </p:spPr>
      </p:sp>
      <p:sp>
        <p:nvSpPr>
          <p:cNvPr id="5" name="Text 3"/>
          <p:cNvSpPr/>
          <p:nvPr/>
        </p:nvSpPr>
        <p:spPr>
          <a:xfrm>
            <a:off x="609585" y="4358481"/>
            <a:ext cx="3251119" cy="108188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The prototype separates the operator interface, API boundary, scenario intelligence, and natural-language explanation.</a:t>
            </a:r>
            <a:endParaRPr lang="en-US" sz="1500" dirty="0"/>
          </a:p>
        </p:txBody>
      </p:sp>
      <p:sp>
        <p:nvSpPr>
          <p:cNvPr id="6" name="Text 4"/>
          <p:cNvSpPr/>
          <p:nvPr/>
        </p:nvSpPr>
        <p:spPr>
          <a:xfrm>
            <a:off x="609585" y="5706904"/>
            <a:ext cx="3860703"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CONNECTED, NOT PRODUCTION-READY</a:t>
            </a:r>
            <a:endParaRPr lang="en-US" sz="1100" dirty="0"/>
          </a:p>
        </p:txBody>
      </p:sp>
      <p:sp>
        <p:nvSpPr>
          <p:cNvPr id="7" name="Text 5"/>
          <p:cNvSpPr/>
          <p:nvPr/>
        </p:nvSpPr>
        <p:spPr>
          <a:xfrm>
            <a:off x="609585" y="6065576"/>
            <a:ext cx="3860703"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No real GPS, IoT, or blockchain claims.</a:t>
            </a:r>
            <a:endParaRPr lang="en-US" sz="1100" dirty="0"/>
          </a:p>
        </p:txBody>
      </p:sp>
      <p:sp>
        <p:nvSpPr>
          <p:cNvPr id="8" name="Text 6"/>
          <p:cNvSpPr/>
          <p:nvPr/>
        </p:nvSpPr>
        <p:spPr>
          <a:xfrm>
            <a:off x="5079873" y="611822"/>
            <a:ext cx="7111822"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ARCHITECTURE FLOW</a:t>
            </a:r>
            <a:endParaRPr lang="en-US" sz="1100" dirty="0"/>
          </a:p>
        </p:txBody>
      </p:sp>
      <p:sp>
        <p:nvSpPr>
          <p:cNvPr id="9" name="Text 7"/>
          <p:cNvSpPr/>
          <p:nvPr/>
        </p:nvSpPr>
        <p:spPr>
          <a:xfrm>
            <a:off x="5079873" y="870545"/>
            <a:ext cx="6502237" cy="1257300"/>
          </a:xfrm>
          <a:prstGeom prst="rect">
            <a:avLst/>
          </a:prstGeom>
          <a:noFill/>
          <a:ln/>
        </p:spPr>
        <p:txBody>
          <a:bodyPr wrap="square" lIns="0" tIns="0" rIns="0" bIns="0" rtlCol="0" anchor="t">
            <a:normAutofit/>
          </a:bodyPr>
          <a:lstStyle/>
          <a:p>
            <a:pPr algn="l" indent="0" marL="0">
              <a:lnSpc>
                <a:spcPct val="110000"/>
              </a:lnSpc>
              <a:buNone/>
            </a:pPr>
            <a:r>
              <a:rPr lang="en-US" sz="2500" dirty="0">
                <a:solidFill>
                  <a:srgbClr val="D5D5D5"/>
                </a:solidFill>
                <a:latin typeface="Exo" pitchFamily="34" charset="0"/>
                <a:ea typeface="Exo" pitchFamily="34" charset="-122"/>
                <a:cs typeface="Exo" pitchFamily="34" charset="-120"/>
              </a:rPr>
              <a:t>React + Vite → FastAPI REST API → SQLite-backed Intelligence Engine → Ollama / Qwen 2.5 3B</a:t>
            </a:r>
            <a:endParaRPr lang="en-US" sz="2500" dirty="0"/>
          </a:p>
        </p:txBody>
      </p:sp>
      <p:sp>
        <p:nvSpPr>
          <p:cNvPr id="10" name="Text 8"/>
          <p:cNvSpPr/>
          <p:nvPr/>
        </p:nvSpPr>
        <p:spPr>
          <a:xfrm>
            <a:off x="5079873" y="2272244"/>
            <a:ext cx="6502237" cy="368697"/>
          </a:xfrm>
          <a:prstGeom prst="rect">
            <a:avLst/>
          </a:prstGeom>
          <a:noFill/>
          <a:ln/>
        </p:spPr>
        <p:txBody>
          <a:bodyPr wrap="square" lIns="0" tIns="0" rIns="0" bIns="0" rtlCol="0" anchor="t">
            <a:normAutofit/>
          </a:bodyPr>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The operator experience calls the API; the Intelligence Engine computes prototype scenarios; Ollama / Qwen 2.5 3B explains the results.</a:t>
            </a:r>
            <a:endParaRPr lang="en-US" sz="1100" dirty="0"/>
          </a:p>
        </p:txBody>
      </p:sp>
      <p:sp>
        <p:nvSpPr>
          <p:cNvPr id="11" name="Shape 9"/>
          <p:cNvSpPr/>
          <p:nvPr/>
        </p:nvSpPr>
        <p:spPr>
          <a:xfrm>
            <a:off x="5079873" y="2863255"/>
            <a:ext cx="6502237" cy="31651"/>
          </a:xfrm>
          <a:prstGeom prst="roundRect">
            <a:avLst>
              <a:gd name="adj" fmla="val 49998"/>
            </a:avLst>
          </a:prstGeom>
          <a:solidFill>
            <a:srgbClr val="3F3F3F"/>
          </a:solidFill>
          <a:ln/>
        </p:spPr>
      </p:sp>
      <p:sp>
        <p:nvSpPr>
          <p:cNvPr id="12" name="Text 10"/>
          <p:cNvSpPr/>
          <p:nvPr/>
        </p:nvSpPr>
        <p:spPr>
          <a:xfrm>
            <a:off x="5079873" y="3121065"/>
            <a:ext cx="7111822"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INTELLIGENCE ENGINE MODULES</a:t>
            </a:r>
            <a:endParaRPr lang="en-US" sz="1100" dirty="0"/>
          </a:p>
        </p:txBody>
      </p:sp>
      <p:sp>
        <p:nvSpPr>
          <p:cNvPr id="13" name="Text 11"/>
          <p:cNvSpPr/>
          <p:nvPr/>
        </p:nvSpPr>
        <p:spPr>
          <a:xfrm>
            <a:off x="5079873" y="3478213"/>
            <a:ext cx="3174921" cy="1504752"/>
          </a:xfrm>
          <a:prstGeom prst="rect">
            <a:avLst/>
          </a:prstGeom>
          <a:noFill/>
          <a:ln/>
        </p:spPr>
        <p:txBody>
          <a:bodyPr wrap="square" lIns="0" tIns="0" rIns="0" bIns="0" rtlCol="0" anchor="t">
            <a:normAutofit/>
          </a:bodyPr>
          <a:lstStyle/>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Validation</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History</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Compatibility scoring</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RandomForest repair-time estimation</a:t>
            </a:r>
            <a:endParaRPr lang="en-US" sz="1500" dirty="0"/>
          </a:p>
        </p:txBody>
      </p:sp>
      <p:sp>
        <p:nvSpPr>
          <p:cNvPr id="14" name="Text 12"/>
          <p:cNvSpPr/>
          <p:nvPr/>
        </p:nvSpPr>
        <p:spPr>
          <a:xfrm>
            <a:off x="8407190" y="3478213"/>
            <a:ext cx="3174921" cy="1234281"/>
          </a:xfrm>
          <a:prstGeom prst="rect">
            <a:avLst/>
          </a:prstGeom>
          <a:noFill/>
          <a:ln/>
        </p:spPr>
        <p:txBody>
          <a:bodyPr wrap="square" lIns="0" tIns="0" rIns="0" bIns="0" rtlCol="0" anchor="t">
            <a:normAutofit/>
          </a:bodyPr>
          <a:lstStyle/>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Ripple strategy ranking</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Recovery simulation</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Spare-part transfer checks</a:t>
            </a:r>
            <a:endParaRPr lang="en-US" sz="1500" dirty="0"/>
          </a:p>
          <a:p>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SLA forecasting</a:t>
            </a:r>
            <a:endParaRPr lang="en-US" sz="1500" dirty="0"/>
          </a:p>
        </p:txBody>
      </p:sp>
      <p:sp>
        <p:nvSpPr>
          <p:cNvPr id="15" name="Text 13"/>
          <p:cNvSpPr/>
          <p:nvPr/>
        </p:nvSpPr>
        <p:spPr>
          <a:xfrm>
            <a:off x="5079873" y="6065576"/>
            <a:ext cx="7111822" cy="184348"/>
          </a:xfrm>
          <a:prstGeom prst="rect">
            <a:avLst/>
          </a:prstGeom>
          <a:noFill/>
          <a:ln/>
        </p:spPr>
        <p:txBody>
          <a:bodyPr wrap="none" lIns="0" tIns="0" rIns="0" bIns="0" rtlCol="0" anchor="t"/>
          <a:lstStyle/>
          <a:p>
            <a:pPr algn="l" indent="0" marL="0">
              <a:lnSpc>
                <a:spcPct val="110000"/>
              </a:lnSpc>
              <a:buNone/>
            </a:pPr>
            <a:r>
              <a:rPr lang="en-US" sz="1100" b="1" spc="11" kern="100" dirty="0">
                <a:solidFill>
                  <a:srgbClr val="9D9D9D"/>
                </a:solidFill>
                <a:latin typeface="Exo Bold" pitchFamily="34" charset="0"/>
                <a:ea typeface="Exo Bold" pitchFamily="34" charset="-122"/>
                <a:cs typeface="Exo Bold" pitchFamily="34" charset="-120"/>
              </a:rPr>
              <a:t>The Intelligence Engine computes.</a:t>
            </a:r>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 The Copilot explains.</a:t>
            </a:r>
            <a:endParaRPr lang="en-US" sz="1100" dirty="0"/>
          </a:p>
        </p:txBody>
      </p:sp>
      <p:sp>
        <p:nvSpPr>
          <p:cNvPr id="16" name="Text 14"/>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18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THE OPERATOR EXPERIENCE</a:t>
            </a:r>
            <a:endParaRPr lang="en-US" sz="1100" dirty="0"/>
          </a:p>
        </p:txBody>
      </p:sp>
      <p:sp>
        <p:nvSpPr>
          <p:cNvPr id="3" name="Text 1"/>
          <p:cNvSpPr/>
          <p:nvPr/>
        </p:nvSpPr>
        <p:spPr>
          <a:xfrm>
            <a:off x="609585" y="911566"/>
            <a:ext cx="10972526" cy="597892"/>
          </a:xfrm>
          <a:prstGeom prst="rect">
            <a:avLst/>
          </a:prstGeom>
          <a:noFill/>
          <a:ln/>
        </p:spPr>
        <p:txBody>
          <a:bodyPr wrap="none" lIns="0" tIns="0" rIns="0" bIns="0" rtlCol="0" anchor="t"/>
          <a:lstStyle/>
          <a:p>
            <a:pPr algn="l" indent="0" marL="0">
              <a:lnSpc>
                <a:spcPct val="89000"/>
              </a:lnSpc>
              <a:buNone/>
            </a:pPr>
            <a:r>
              <a:rPr lang="en-US" sz="4400" spc="-53" kern="100" dirty="0">
                <a:solidFill>
                  <a:srgbClr val="ECECEC"/>
                </a:solidFill>
                <a:latin typeface="Exo SemiBold" pitchFamily="34" charset="0"/>
                <a:ea typeface="Exo SemiBold" pitchFamily="34" charset="-122"/>
                <a:cs typeface="Exo SemiBold" pitchFamily="34" charset="-120"/>
              </a:rPr>
              <a:t>Visibility and trust for operators</a:t>
            </a:r>
            <a:endParaRPr lang="en-US" sz="4400" dirty="0"/>
          </a:p>
        </p:txBody>
      </p:sp>
      <p:sp>
        <p:nvSpPr>
          <p:cNvPr id="4" name="Shape 2"/>
          <p:cNvSpPr/>
          <p:nvPr/>
        </p:nvSpPr>
        <p:spPr>
          <a:xfrm>
            <a:off x="609585" y="1711325"/>
            <a:ext cx="2743131" cy="31651"/>
          </a:xfrm>
          <a:prstGeom prst="roundRect">
            <a:avLst>
              <a:gd name="adj" fmla="val 49998"/>
            </a:avLst>
          </a:prstGeom>
          <a:solidFill>
            <a:srgbClr val="9BE1FF"/>
          </a:solidFill>
          <a:ln/>
        </p:spPr>
      </p:sp>
      <p:sp>
        <p:nvSpPr>
          <p:cNvPr id="5" name="Text 3"/>
          <p:cNvSpPr/>
          <p:nvPr/>
        </p:nvSpPr>
        <p:spPr>
          <a:xfrm>
            <a:off x="609585" y="1966913"/>
            <a:ext cx="11582110"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Two demo scenarios make the decision boundary concrete: compare, explain, approve.</a:t>
            </a:r>
            <a:endParaRPr lang="en-US" sz="1500" dirty="0"/>
          </a:p>
        </p:txBody>
      </p:sp>
      <p:sp>
        <p:nvSpPr>
          <p:cNvPr id="6" name="Shape 4"/>
          <p:cNvSpPr/>
          <p:nvPr/>
        </p:nvSpPr>
        <p:spPr>
          <a:xfrm>
            <a:off x="609585" y="2415183"/>
            <a:ext cx="6492117" cy="2872780"/>
          </a:xfrm>
          <a:prstGeom prst="rect">
            <a:avLst/>
          </a:prstGeom>
          <a:solidFill>
            <a:srgbClr val="0E1F40"/>
          </a:solidFill>
          <a:ln/>
        </p:spPr>
      </p:sp>
      <p:sp>
        <p:nvSpPr>
          <p:cNvPr id="7" name="Text 5"/>
          <p:cNvSpPr/>
          <p:nvPr/>
        </p:nvSpPr>
        <p:spPr>
          <a:xfrm>
            <a:off x="914377" y="2620605"/>
            <a:ext cx="6187325"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D5D5D5"/>
                </a:solidFill>
                <a:latin typeface="Fira Mono Medium" pitchFamily="34" charset="0"/>
                <a:ea typeface="Fira Mono Medium" pitchFamily="34" charset="-122"/>
                <a:cs typeface="Fira Mono Medium" pitchFamily="34" charset="-120"/>
              </a:rPr>
              <a:t>DEMO SCENARIO · RECOVERY</a:t>
            </a:r>
            <a:endParaRPr lang="en-US" sz="1100" dirty="0"/>
          </a:p>
        </p:txBody>
      </p:sp>
      <p:sp>
        <p:nvSpPr>
          <p:cNvPr id="8" name="Text 6"/>
          <p:cNvSpPr/>
          <p:nvPr/>
        </p:nvSpPr>
        <p:spPr>
          <a:xfrm>
            <a:off x="914377" y="2879328"/>
            <a:ext cx="5882533" cy="419100"/>
          </a:xfrm>
          <a:prstGeom prst="rect">
            <a:avLst/>
          </a:prstGeom>
          <a:noFill/>
          <a:ln/>
        </p:spPr>
        <p:txBody>
          <a:bodyPr wrap="none" lIns="0" tIns="0" rIns="0" bIns="0" rtlCol="0" anchor="t"/>
          <a:lstStyle/>
          <a:p>
            <a:pPr algn="l" indent="0" marL="0">
              <a:lnSpc>
                <a:spcPct val="110000"/>
              </a:lnSpc>
              <a:buNone/>
            </a:pPr>
            <a:r>
              <a:rPr lang="en-US" sz="2500" dirty="0">
                <a:solidFill>
                  <a:srgbClr val="D5D5D5"/>
                </a:solidFill>
                <a:latin typeface="Exo" pitchFamily="34" charset="0"/>
                <a:ea typeface="Exo" pitchFamily="34" charset="-122"/>
                <a:cs typeface="Exo" pitchFamily="34" charset="-120"/>
              </a:rPr>
              <a:t>SR501 → T02</a:t>
            </a:r>
            <a:endParaRPr lang="en-US" sz="2500" dirty="0"/>
          </a:p>
        </p:txBody>
      </p:sp>
      <p:sp>
        <p:nvSpPr>
          <p:cNvPr id="9" name="Text 7"/>
          <p:cNvSpPr/>
          <p:nvPr/>
        </p:nvSpPr>
        <p:spPr>
          <a:xfrm>
            <a:off x="914377" y="3441303"/>
            <a:ext cx="5882533" cy="925711"/>
          </a:xfrm>
          <a:prstGeom prst="rect">
            <a:avLst/>
          </a:prstGeom>
          <a:noFill/>
          <a:ln/>
        </p:spPr>
        <p:txBody>
          <a:bodyPr wrap="square" lIns="0" tIns="0" rIns="0" bIns="0" rtlCol="0" anchor="t">
            <a:normAutofit/>
          </a:bodyPr>
          <a:lstStyle/>
          <a:p>
            <a:pPr algn="l" indent="0" marL="0">
              <a:lnSpc>
                <a:spcPct val="118000"/>
              </a:lnSpc>
              <a:spcAft>
                <a:spcPts val="850"/>
              </a:spcAft>
              <a:buNone/>
            </a:pPr>
            <a:r>
              <a:rPr lang="en-US" sz="1500" dirty="0">
                <a:solidFill>
                  <a:srgbClr val="D5D5D5"/>
                </a:solidFill>
                <a:latin typeface="Exo" pitchFamily="34" charset="0"/>
                <a:ea typeface="Exo" pitchFamily="34" charset="-122"/>
                <a:cs typeface="Exo" pitchFamily="34" charset="-120"/>
              </a:rPr>
              <a:t>Simulate T02 dropout → find replacements → compare compatibility, repair time, and ripple impact.</a:t>
            </a:r>
            <a:endParaRPr lang="en-US" sz="1500" dirty="0"/>
          </a:p>
          <a:p>
            <a:pPr algn="l" indent="0" marL="0">
              <a:lnSpc>
                <a:spcPct val="118000"/>
              </a:lnSpc>
              <a:buNone/>
            </a:pPr>
            <a:r>
              <a:rPr lang="en-US" sz="1500" dirty="0">
                <a:solidFill>
                  <a:srgbClr val="D5D5D5"/>
                </a:solidFill>
                <a:latin typeface="Exo" pitchFamily="34" charset="0"/>
                <a:ea typeface="Exo" pitchFamily="34" charset="-122"/>
                <a:cs typeface="Exo" pitchFamily="34" charset="-120"/>
              </a:rPr>
              <a:t>Recommend recovery → human approval.</a:t>
            </a:r>
            <a:endParaRPr lang="en-US" sz="1500" dirty="0"/>
          </a:p>
        </p:txBody>
      </p:sp>
      <p:sp>
        <p:nvSpPr>
          <p:cNvPr id="10" name="Shape 8"/>
          <p:cNvSpPr/>
          <p:nvPr/>
        </p:nvSpPr>
        <p:spPr>
          <a:xfrm>
            <a:off x="914377" y="4481314"/>
            <a:ext cx="4672789" cy="304800"/>
          </a:xfrm>
          <a:prstGeom prst="roundRect">
            <a:avLst>
              <a:gd name="adj" fmla="val 3750"/>
            </a:avLst>
          </a:prstGeom>
          <a:noFill/>
          <a:ln w="6350">
            <a:solidFill>
              <a:srgbClr val="D5D5D5"/>
            </a:solidFill>
            <a:prstDash val="solid"/>
          </a:ln>
        </p:spPr>
      </p:sp>
      <p:sp>
        <p:nvSpPr>
          <p:cNvPr id="11" name="Text 9"/>
          <p:cNvSpPr/>
          <p:nvPr/>
        </p:nvSpPr>
        <p:spPr>
          <a:xfrm>
            <a:off x="1028674" y="4562277"/>
            <a:ext cx="5053779" cy="190500"/>
          </a:xfrm>
          <a:prstGeom prst="rect">
            <a:avLst/>
          </a:prstGeom>
          <a:noFill/>
          <a:ln/>
        </p:spPr>
        <p:txBody>
          <a:bodyPr wrap="none" lIns="0" tIns="0" rIns="0" bIns="0" rtlCol="0" anchor="t"/>
          <a:lstStyle/>
          <a:p>
            <a:pPr algn="l" indent="0" marL="0">
              <a:lnSpc>
                <a:spcPct val="104000"/>
              </a:lnSpc>
              <a:buNone/>
            </a:pPr>
            <a:r>
              <a:rPr lang="en-US" sz="1200" spc="192" kern="100" dirty="0">
                <a:solidFill>
                  <a:srgbClr val="D5D5D5"/>
                </a:solidFill>
                <a:latin typeface="Michroma" pitchFamily="34" charset="0"/>
                <a:ea typeface="Michroma" pitchFamily="34" charset="-122"/>
                <a:cs typeface="Michroma" pitchFamily="34" charset="-120"/>
              </a:rPr>
              <a:t>ASSIGNMENT STAYS UNCHANGED</a:t>
            </a:r>
            <a:endParaRPr lang="en-US" sz="1200" dirty="0"/>
          </a:p>
        </p:txBody>
      </p:sp>
      <p:sp>
        <p:nvSpPr>
          <p:cNvPr id="12" name="Text 10"/>
          <p:cNvSpPr/>
          <p:nvPr/>
        </p:nvSpPr>
        <p:spPr>
          <a:xfrm>
            <a:off x="914377" y="4901938"/>
            <a:ext cx="6187325"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D5D5D5"/>
                </a:solidFill>
                <a:latin typeface="Exo" pitchFamily="34" charset="0"/>
                <a:ea typeface="Exo" pitchFamily="34" charset="-122"/>
                <a:cs typeface="Exo" pitchFamily="34" charset="-120"/>
              </a:rPr>
              <a:t>The actual assignment is not automatically changed.</a:t>
            </a:r>
            <a:endParaRPr lang="en-US" sz="1100" dirty="0"/>
          </a:p>
        </p:txBody>
      </p:sp>
      <p:sp>
        <p:nvSpPr>
          <p:cNvPr id="13" name="Shape 11"/>
          <p:cNvSpPr/>
          <p:nvPr/>
        </p:nvSpPr>
        <p:spPr>
          <a:xfrm>
            <a:off x="7253999" y="2415183"/>
            <a:ext cx="4328111" cy="2872780"/>
          </a:xfrm>
          <a:prstGeom prst="rect">
            <a:avLst/>
          </a:prstGeom>
          <a:solidFill>
            <a:srgbClr val="241B55"/>
          </a:solidFill>
          <a:ln/>
        </p:spPr>
      </p:sp>
      <p:sp>
        <p:nvSpPr>
          <p:cNvPr id="14" name="Text 12"/>
          <p:cNvSpPr/>
          <p:nvPr/>
        </p:nvSpPr>
        <p:spPr>
          <a:xfrm>
            <a:off x="7558791" y="2620605"/>
            <a:ext cx="4023319"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DEMO SCENARIO · RESOURCE</a:t>
            </a:r>
            <a:endParaRPr lang="en-US" sz="1100" dirty="0"/>
          </a:p>
        </p:txBody>
      </p:sp>
      <p:sp>
        <p:nvSpPr>
          <p:cNvPr id="15" name="Text 13"/>
          <p:cNvSpPr/>
          <p:nvPr/>
        </p:nvSpPr>
        <p:spPr>
          <a:xfrm>
            <a:off x="7558791" y="2879328"/>
            <a:ext cx="3718527" cy="419100"/>
          </a:xfrm>
          <a:prstGeom prst="rect">
            <a:avLst/>
          </a:prstGeom>
          <a:noFill/>
          <a:ln/>
        </p:spPr>
        <p:txBody>
          <a:bodyPr wrap="none" lIns="0" tIns="0" rIns="0" bIns="0" rtlCol="0" anchor="t"/>
          <a:lstStyle/>
          <a:p>
            <a:pPr algn="l" indent="0" marL="0">
              <a:lnSpc>
                <a:spcPct val="110000"/>
              </a:lnSpc>
              <a:buNone/>
            </a:pPr>
            <a:r>
              <a:rPr lang="en-US" sz="2500" dirty="0">
                <a:solidFill>
                  <a:srgbClr val="FFFFFF"/>
                </a:solidFill>
                <a:latin typeface="Exo" pitchFamily="34" charset="0"/>
                <a:ea typeface="Exo" pitchFamily="34" charset="-122"/>
                <a:cs typeface="Exo" pitchFamily="34" charset="-120"/>
              </a:rPr>
              <a:t>PUMP-12 shortage</a:t>
            </a:r>
            <a:endParaRPr lang="en-US" sz="2500" dirty="0"/>
          </a:p>
        </p:txBody>
      </p:sp>
      <p:sp>
        <p:nvSpPr>
          <p:cNvPr id="16" name="Text 14"/>
          <p:cNvSpPr/>
          <p:nvPr/>
        </p:nvSpPr>
        <p:spPr>
          <a:xfrm>
            <a:off x="7558791" y="3441303"/>
            <a:ext cx="3718527"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FFFFFF"/>
                </a:solidFill>
                <a:latin typeface="Exo" pitchFamily="34" charset="0"/>
                <a:ea typeface="Exo" pitchFamily="34" charset="-122"/>
                <a:cs typeface="Exo" pitchFamily="34" charset="-120"/>
              </a:rPr>
              <a:t>Candidate-site transfer check → feasible / infeasible.</a:t>
            </a:r>
            <a:endParaRPr lang="en-US" sz="1500" dirty="0"/>
          </a:p>
        </p:txBody>
      </p:sp>
      <p:sp>
        <p:nvSpPr>
          <p:cNvPr id="17" name="Shape 15"/>
          <p:cNvSpPr/>
          <p:nvPr/>
        </p:nvSpPr>
        <p:spPr>
          <a:xfrm>
            <a:off x="7558791" y="4096544"/>
            <a:ext cx="2523169" cy="304800"/>
          </a:xfrm>
          <a:prstGeom prst="roundRect">
            <a:avLst>
              <a:gd name="adj" fmla="val 3750"/>
            </a:avLst>
          </a:prstGeom>
          <a:noFill/>
          <a:ln w="6350">
            <a:solidFill>
              <a:srgbClr val="FFFFFF"/>
            </a:solidFill>
            <a:prstDash val="solid"/>
          </a:ln>
        </p:spPr>
      </p:sp>
      <p:sp>
        <p:nvSpPr>
          <p:cNvPr id="18" name="Text 16"/>
          <p:cNvSpPr/>
          <p:nvPr/>
        </p:nvSpPr>
        <p:spPr>
          <a:xfrm>
            <a:off x="7673089" y="4177506"/>
            <a:ext cx="2904159" cy="190500"/>
          </a:xfrm>
          <a:prstGeom prst="rect">
            <a:avLst/>
          </a:prstGeom>
          <a:noFill/>
          <a:ln/>
        </p:spPr>
        <p:txBody>
          <a:bodyPr wrap="none" lIns="0" tIns="0" rIns="0" bIns="0" rtlCol="0" anchor="t"/>
          <a:lstStyle/>
          <a:p>
            <a:pPr algn="l" indent="0" marL="0">
              <a:lnSpc>
                <a:spcPct val="104000"/>
              </a:lnSpc>
              <a:buNone/>
            </a:pPr>
            <a:r>
              <a:rPr lang="en-US" sz="1200" spc="192" kern="100" dirty="0">
                <a:solidFill>
                  <a:srgbClr val="FFFFFF"/>
                </a:solidFill>
                <a:latin typeface="Michroma" pitchFamily="34" charset="0"/>
                <a:ea typeface="Michroma" pitchFamily="34" charset="-122"/>
                <a:cs typeface="Michroma" pitchFamily="34" charset="-120"/>
              </a:rPr>
              <a:t>SCENARIO CHECK</a:t>
            </a:r>
            <a:endParaRPr lang="en-US" sz="1200" dirty="0"/>
          </a:p>
        </p:txBody>
      </p:sp>
      <p:sp>
        <p:nvSpPr>
          <p:cNvPr id="19" name="Text 17"/>
          <p:cNvSpPr/>
          <p:nvPr/>
        </p:nvSpPr>
        <p:spPr>
          <a:xfrm>
            <a:off x="7558791" y="4517168"/>
            <a:ext cx="3718527" cy="368697"/>
          </a:xfrm>
          <a:prstGeom prst="rect">
            <a:avLst/>
          </a:prstGeom>
          <a:noFill/>
          <a:ln/>
        </p:spPr>
        <p:txBody>
          <a:bodyPr wrap="square" lIns="0" tIns="0" rIns="0" bIns="0" rtlCol="0" anchor="t">
            <a:normAutofit/>
          </a:bodyPr>
          <a:lstStyle/>
          <a:p>
            <a:pPr algn="l" indent="0" marL="0">
              <a:lnSpc>
                <a:spcPct val="110000"/>
              </a:lnSpc>
              <a:buNone/>
            </a:pPr>
            <a:r>
              <a:rPr lang="en-US" sz="1100" spc="11" kern="100" dirty="0">
                <a:solidFill>
                  <a:srgbClr val="FFFFFF"/>
                </a:solidFill>
                <a:latin typeface="Exo" pitchFamily="34" charset="0"/>
                <a:ea typeface="Exo" pitchFamily="34" charset="-122"/>
                <a:cs typeface="Exo" pitchFamily="34" charset="-120"/>
              </a:rPr>
              <a:t>The prototype checks transfer feasibility before approval.</a:t>
            </a:r>
            <a:endParaRPr lang="en-US" sz="1100" dirty="0"/>
          </a:p>
        </p:txBody>
      </p:sp>
      <p:sp>
        <p:nvSpPr>
          <p:cNvPr id="20" name="Text 18"/>
          <p:cNvSpPr/>
          <p:nvPr/>
        </p:nvSpPr>
        <p:spPr>
          <a:xfrm>
            <a:off x="609585" y="5467985"/>
            <a:ext cx="3657509"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TRUST SIGNALS</a:t>
            </a:r>
            <a:endParaRPr lang="en-US" sz="1100" dirty="0"/>
          </a:p>
        </p:txBody>
      </p:sp>
      <p:sp>
        <p:nvSpPr>
          <p:cNvPr id="21" name="Text 19"/>
          <p:cNvSpPr/>
          <p:nvPr/>
        </p:nvSpPr>
        <p:spPr>
          <a:xfrm>
            <a:off x="609585" y="5761633"/>
            <a:ext cx="3657509"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Validation and controlled workflows.</a:t>
            </a:r>
            <a:endParaRPr lang="en-US" sz="1500" dirty="0"/>
          </a:p>
        </p:txBody>
      </p:sp>
      <p:sp>
        <p:nvSpPr>
          <p:cNvPr id="22" name="Text 20"/>
          <p:cNvSpPr/>
          <p:nvPr/>
        </p:nvSpPr>
        <p:spPr>
          <a:xfrm>
            <a:off x="4495688" y="5467985"/>
            <a:ext cx="3428914"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TRACEABILITY</a:t>
            </a:r>
            <a:endParaRPr lang="en-US" sz="1100" dirty="0"/>
          </a:p>
        </p:txBody>
      </p:sp>
      <p:sp>
        <p:nvSpPr>
          <p:cNvPr id="23" name="Text 21"/>
          <p:cNvSpPr/>
          <p:nvPr/>
        </p:nvSpPr>
        <p:spPr>
          <a:xfrm>
            <a:off x="4495688" y="5761633"/>
            <a:ext cx="3200320"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Changes remain explainable and auditable.</a:t>
            </a:r>
            <a:endParaRPr lang="en-US" sz="1500" dirty="0"/>
          </a:p>
        </p:txBody>
      </p:sp>
      <p:sp>
        <p:nvSpPr>
          <p:cNvPr id="24" name="Text 22"/>
          <p:cNvSpPr/>
          <p:nvPr/>
        </p:nvSpPr>
        <p:spPr>
          <a:xfrm>
            <a:off x="8153196" y="5467985"/>
            <a:ext cx="3428914"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SCOPE</a:t>
            </a:r>
            <a:endParaRPr lang="en-US" sz="1100" dirty="0"/>
          </a:p>
        </p:txBody>
      </p:sp>
      <p:sp>
        <p:nvSpPr>
          <p:cNvPr id="25" name="Text 23"/>
          <p:cNvSpPr/>
          <p:nvPr/>
        </p:nvSpPr>
        <p:spPr>
          <a:xfrm>
            <a:off x="8153196" y="5761633"/>
            <a:ext cx="342891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Scenario estimates, not autonomous decisions.</a:t>
            </a:r>
            <a:endParaRPr lang="en-US" sz="1500" dirty="0"/>
          </a:p>
        </p:txBody>
      </p:sp>
      <p:sp>
        <p:nvSpPr>
          <p:cNvPr id="26" name="Text 24"/>
          <p:cNvSpPr/>
          <p:nvPr/>
        </p:nvSpPr>
        <p:spPr>
          <a:xfrm>
            <a:off x="609585" y="6482596"/>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404: NOT FOUND • DQ3-023 • DQBH</a:t>
            </a:r>
            <a:endParaRPr lang="en-US" sz="1100" dirty="0"/>
          </a:p>
        </p:txBody>
      </p:sp>
      <p:sp>
        <p:nvSpPr>
          <p:cNvPr id="27" name="Shape 25"/>
          <p:cNvSpPr/>
          <p:nvPr/>
        </p:nvSpPr>
        <p:spPr>
          <a:xfrm>
            <a:off x="4260743" y="5465763"/>
            <a:ext cx="12700" cy="836811"/>
          </a:xfrm>
          <a:prstGeom prst="rect">
            <a:avLst/>
          </a:prstGeom>
          <a:solidFill>
            <a:srgbClr val="3F3F3F"/>
          </a:solidFill>
          <a:ln/>
        </p:spPr>
      </p:sp>
      <p:sp>
        <p:nvSpPr>
          <p:cNvPr id="28" name="Shape 26"/>
          <p:cNvSpPr/>
          <p:nvPr/>
        </p:nvSpPr>
        <p:spPr>
          <a:xfrm>
            <a:off x="7918252" y="5465763"/>
            <a:ext cx="12700" cy="836811"/>
          </a:xfrm>
          <a:prstGeom prst="rect">
            <a:avLst/>
          </a:prstGeom>
          <a:solidFill>
            <a:srgbClr val="3F3F3F"/>
          </a:solidFill>
          <a:ln/>
        </p:spPr>
      </p:sp>
      <p:sp>
        <p:nvSpPr>
          <p:cNvPr id="29" name="Text 27"/>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1582110" cy="176312"/>
          </a:xfrm>
          <a:prstGeom prst="rect">
            <a:avLst/>
          </a:prstGeom>
          <a:noFill/>
          <a:ln/>
        </p:spPr>
        <p:txBody>
          <a:bodyPr wrap="none" lIns="0" tIns="0" rIns="0" bIns="0" rtlCol="0" anchor="t"/>
          <a:lstStyle/>
          <a:p>
            <a:pPr algn="l" indent="0" marL="0">
              <a:lnSpc>
                <a:spcPct val="108000"/>
              </a:lnSpc>
              <a:buNone/>
            </a:pPr>
            <a:r>
              <a:rPr lang="en-US" sz="1050" spc="91" kern="100" dirty="0">
                <a:solidFill>
                  <a:srgbClr val="B5B5B5"/>
                </a:solidFill>
                <a:latin typeface="Fira Mono Medium" pitchFamily="34" charset="0"/>
                <a:ea typeface="Fira Mono Medium" pitchFamily="34" charset="-122"/>
                <a:cs typeface="Fira Mono Medium" pitchFamily="34" charset="-120"/>
              </a:rPr>
              <a:t>CAPABILITIES &amp; LIMITS</a:t>
            </a:r>
            <a:endParaRPr lang="en-US" sz="1050" dirty="0"/>
          </a:p>
        </p:txBody>
      </p:sp>
      <p:sp>
        <p:nvSpPr>
          <p:cNvPr id="3" name="Text 1"/>
          <p:cNvSpPr/>
          <p:nvPr/>
        </p:nvSpPr>
        <p:spPr>
          <a:xfrm>
            <a:off x="609585" y="896545"/>
            <a:ext cx="10972526" cy="1161058"/>
          </a:xfrm>
          <a:prstGeom prst="rect">
            <a:avLst/>
          </a:prstGeom>
          <a:noFill/>
          <a:ln/>
        </p:spPr>
        <p:txBody>
          <a:bodyPr wrap="square" lIns="0" tIns="0" rIns="0" bIns="0" rtlCol="0" anchor="t">
            <a:normAutofit/>
          </a:bodyPr>
          <a:lstStyle/>
          <a:p>
            <a:pPr algn="l" indent="0" marL="0">
              <a:lnSpc>
                <a:spcPct val="89000"/>
              </a:lnSpc>
              <a:buNone/>
            </a:pPr>
            <a:r>
              <a:rPr lang="en-US" sz="4250" spc="-51" kern="100" dirty="0">
                <a:solidFill>
                  <a:srgbClr val="ECECEC"/>
                </a:solidFill>
                <a:latin typeface="Exo SemiBold" pitchFamily="34" charset="0"/>
                <a:ea typeface="Exo SemiBold" pitchFamily="34" charset="-122"/>
                <a:cs typeface="Exo SemiBold" pitchFamily="34" charset="-120"/>
              </a:rPr>
              <a:t>Prototype capabilities with a staged path to production</a:t>
            </a:r>
            <a:endParaRPr lang="en-US" sz="4250" dirty="0"/>
          </a:p>
        </p:txBody>
      </p:sp>
      <p:sp>
        <p:nvSpPr>
          <p:cNvPr id="4" name="Shape 2"/>
          <p:cNvSpPr/>
          <p:nvPr/>
        </p:nvSpPr>
        <p:spPr>
          <a:xfrm>
            <a:off x="609585" y="2253555"/>
            <a:ext cx="2743131" cy="19050"/>
          </a:xfrm>
          <a:prstGeom prst="roundRect">
            <a:avLst>
              <a:gd name="adj" fmla="val 49999"/>
            </a:avLst>
          </a:prstGeom>
          <a:solidFill>
            <a:srgbClr val="9BE1FF"/>
          </a:solidFill>
          <a:ln/>
        </p:spPr>
      </p:sp>
      <p:sp>
        <p:nvSpPr>
          <p:cNvPr id="5" name="Text 3"/>
          <p:cNvSpPr/>
          <p:nvPr/>
        </p:nvSpPr>
        <p:spPr>
          <a:xfrm>
            <a:off x="609585" y="2486422"/>
            <a:ext cx="11582110" cy="258763"/>
          </a:xfrm>
          <a:prstGeom prst="rect">
            <a:avLst/>
          </a:prstGeom>
          <a:noFill/>
          <a:ln/>
        </p:spPr>
        <p:txBody>
          <a:bodyPr wrap="none" lIns="0" tIns="0" rIns="0" bIns="0" rtlCol="0" anchor="t"/>
          <a:lstStyle/>
          <a:p>
            <a:pPr algn="l" indent="0" marL="0">
              <a:lnSpc>
                <a:spcPct val="117000"/>
              </a:lnSpc>
              <a:buNone/>
            </a:pPr>
            <a:r>
              <a:rPr lang="en-US" sz="1450" dirty="0">
                <a:solidFill>
                  <a:srgbClr val="D5D5D5"/>
                </a:solidFill>
                <a:latin typeface="Exo" pitchFamily="34" charset="0"/>
                <a:ea typeface="Exo" pitchFamily="34" charset="-122"/>
                <a:cs typeface="Exo" pitchFamily="34" charset="-120"/>
              </a:rPr>
              <a:t>Demonstrate the workflow honestly now; harden the platform only after the scenario path is validated.</a:t>
            </a:r>
            <a:endParaRPr lang="en-US" sz="1450" dirty="0"/>
          </a:p>
        </p:txBody>
      </p:sp>
      <p:sp>
        <p:nvSpPr>
          <p:cNvPr id="6" name="Shape 4"/>
          <p:cNvSpPr/>
          <p:nvPr/>
        </p:nvSpPr>
        <p:spPr>
          <a:xfrm>
            <a:off x="609585" y="2912765"/>
            <a:ext cx="5410065" cy="2633663"/>
          </a:xfrm>
          <a:prstGeom prst="rect">
            <a:avLst/>
          </a:prstGeom>
          <a:solidFill>
            <a:srgbClr val="0E1F40"/>
          </a:solidFill>
          <a:ln/>
        </p:spPr>
      </p:sp>
      <p:sp>
        <p:nvSpPr>
          <p:cNvPr id="7" name="Text 5"/>
          <p:cNvSpPr/>
          <p:nvPr/>
        </p:nvSpPr>
        <p:spPr>
          <a:xfrm>
            <a:off x="838179" y="3065165"/>
            <a:ext cx="4952876" cy="2328863"/>
          </a:xfrm>
          <a:prstGeom prst="rect">
            <a:avLst/>
          </a:prstGeom>
          <a:noFill/>
          <a:ln/>
        </p:spPr>
        <p:txBody>
          <a:bodyPr wrap="square" lIns="0" tIns="0" rIns="0" bIns="0" rtlCol="0" anchor="t">
            <a:normAutofit/>
          </a:bodyPr>
          <a:lstStyle/>
          <a:p>
            <a:pPr algn="l" indent="0" marL="0">
              <a:lnSpc>
                <a:spcPct val="117000"/>
              </a:lnSpc>
              <a:buNone/>
            </a:pPr>
            <a:r>
              <a:rPr lang="en-US" sz="1450" b="1" dirty="0">
                <a:solidFill>
                  <a:srgbClr val="D5D5D5"/>
                </a:solidFill>
                <a:latin typeface="Exo Bold" pitchFamily="34" charset="0"/>
                <a:ea typeface="Exo Bold" pitchFamily="34" charset="-122"/>
                <a:cs typeface="Exo Bold" pitchFamily="34" charset="-120"/>
              </a:rPr>
              <a:t>CAPABILITIES —</a:t>
            </a:r>
            <a:pPr algn="l" indent="0" marL="0">
              <a:lnSpc>
                <a:spcPct val="117000"/>
              </a:lnSpc>
              <a:buNone/>
            </a:pPr>
            <a:r>
              <a:rPr lang="en-US" sz="1450" dirty="0">
                <a:solidFill>
                  <a:srgbClr val="D5D5D5"/>
                </a:solidFill>
                <a:latin typeface="Exo" pitchFamily="34" charset="0"/>
                <a:ea typeface="Exo" pitchFamily="34" charset="-122"/>
                <a:cs typeface="Exo" pitchFamily="34" charset="-120"/>
              </a:rPr>
              <a:t> Run the maintenance request lifecycle locally with React, FastAPI, and SQLite; validate workflows, compare scenarios, support human decisions, and retain an audit trail.</a:t>
            </a:r>
            <a:endParaRPr lang="en-US" sz="1450" dirty="0"/>
          </a:p>
          <a:p>
            <a:pPr algn="l" indent="0" marL="0">
              <a:lnSpc>
                <a:spcPct val="117000"/>
              </a:lnSpc>
              <a:buNone/>
            </a:pPr>
            <a:r>
              <a:rPr lang="en-US" sz="1450" b="1" dirty="0">
                <a:solidFill>
                  <a:srgbClr val="D5D5D5"/>
                </a:solidFill>
                <a:latin typeface="Exo Bold" pitchFamily="34" charset="0"/>
                <a:ea typeface="Exo Bold" pitchFamily="34" charset="-122"/>
                <a:cs typeface="Exo Bold" pitchFamily="34" charset="-120"/>
              </a:rPr>
              <a:t>STAGED ROLLOUT —</a:t>
            </a:r>
            <a:pPr algn="l" indent="0" marL="0">
              <a:lnSpc>
                <a:spcPct val="117000"/>
              </a:lnSpc>
              <a:buNone/>
            </a:pPr>
            <a:r>
              <a:rPr lang="en-US" sz="1450" dirty="0">
                <a:solidFill>
                  <a:srgbClr val="D5D5D5"/>
                </a:solidFill>
                <a:latin typeface="Exo" pitchFamily="34" charset="0"/>
                <a:ea typeface="Exo" pitchFamily="34" charset="-122"/>
                <a:cs typeface="Exo" pitchFamily="34" charset="-120"/>
              </a:rPr>
              <a:t> Start with a bounded workflow or site, validate API behavior and mock-data scenarios, then consider production infrastructure such as PostgreSQL, cloud hosting, security hardening, monitoring, backups, and scalable APIs.</a:t>
            </a:r>
            <a:endParaRPr lang="en-US" sz="1450" dirty="0"/>
          </a:p>
        </p:txBody>
      </p:sp>
      <p:sp>
        <p:nvSpPr>
          <p:cNvPr id="8" name="Shape 6"/>
          <p:cNvSpPr/>
          <p:nvPr/>
        </p:nvSpPr>
        <p:spPr>
          <a:xfrm>
            <a:off x="6172046" y="2912765"/>
            <a:ext cx="5410065" cy="2633663"/>
          </a:xfrm>
          <a:prstGeom prst="rect">
            <a:avLst/>
          </a:prstGeom>
          <a:solidFill>
            <a:srgbClr val="241B55"/>
          </a:solidFill>
          <a:ln/>
        </p:spPr>
      </p:sp>
      <p:sp>
        <p:nvSpPr>
          <p:cNvPr id="9" name="Text 7"/>
          <p:cNvSpPr/>
          <p:nvPr/>
        </p:nvSpPr>
        <p:spPr>
          <a:xfrm>
            <a:off x="6400640" y="3065165"/>
            <a:ext cx="4952876" cy="2328863"/>
          </a:xfrm>
          <a:prstGeom prst="rect">
            <a:avLst/>
          </a:prstGeom>
          <a:noFill/>
          <a:ln/>
        </p:spPr>
        <p:txBody>
          <a:bodyPr wrap="square" lIns="0" tIns="0" rIns="0" bIns="0" rtlCol="0" anchor="t">
            <a:normAutofit/>
          </a:bodyPr>
          <a:lstStyle/>
          <a:p>
            <a:pPr algn="l" indent="0" marL="0">
              <a:lnSpc>
                <a:spcPct val="117000"/>
              </a:lnSpc>
              <a:buNone/>
            </a:pPr>
            <a:r>
              <a:rPr lang="en-US" sz="1450" b="1" dirty="0">
                <a:solidFill>
                  <a:srgbClr val="FFFFFF"/>
                </a:solidFill>
                <a:latin typeface="Exo Bold" pitchFamily="34" charset="0"/>
                <a:ea typeface="Exo Bold" pitchFamily="34" charset="-122"/>
                <a:cs typeface="Exo Bold" pitchFamily="34" charset="-120"/>
              </a:rPr>
              <a:t>EXPLICIT LIMITS —</a:t>
            </a:r>
            <a:pPr algn="l" indent="0" marL="0">
              <a:lnSpc>
                <a:spcPct val="117000"/>
              </a:lnSpc>
              <a:buNone/>
            </a:pPr>
            <a:r>
              <a:rPr lang="en-US" sz="1450" dirty="0">
                <a:solidFill>
                  <a:srgbClr val="FFFFFF"/>
                </a:solidFill>
                <a:latin typeface="Exo" pitchFamily="34" charset="0"/>
                <a:ea typeface="Exo" pitchFamily="34" charset="-122"/>
                <a:cs typeface="Exo" pitchFamily="34" charset="-120"/>
              </a:rPr>
              <a:t> This is not a production-ready integration claim. There is no real GPS, IoT, or blockchain integration, no measured ML accuracy or measured cost/SLA savings, and no fully autonomous decision-making.</a:t>
            </a:r>
            <a:endParaRPr lang="en-US" sz="1450" dirty="0"/>
          </a:p>
          <a:p>
            <a:pPr algn="l" indent="0" marL="0">
              <a:lnSpc>
                <a:spcPct val="117000"/>
              </a:lnSpc>
              <a:buNone/>
            </a:pPr>
            <a:r>
              <a:rPr lang="en-US" sz="1450" b="1" dirty="0">
                <a:solidFill>
                  <a:srgbClr val="FFFFFF"/>
                </a:solidFill>
                <a:latin typeface="Exo Bold" pitchFamily="34" charset="0"/>
                <a:ea typeface="Exo Bold" pitchFamily="34" charset="-122"/>
                <a:cs typeface="Exo Bold" pitchFamily="34" charset="-120"/>
              </a:rPr>
              <a:t>INTERPRETATION —</a:t>
            </a:r>
            <a:pPr algn="l" indent="0" marL="0">
              <a:lnSpc>
                <a:spcPct val="117000"/>
              </a:lnSpc>
              <a:buNone/>
            </a:pPr>
            <a:r>
              <a:rPr lang="en-US" sz="1450" dirty="0">
                <a:solidFill>
                  <a:srgbClr val="FFFFFF"/>
                </a:solidFill>
                <a:latin typeface="Exo" pitchFamily="34" charset="0"/>
                <a:ea typeface="Exo" pitchFamily="34" charset="-122"/>
                <a:cs typeface="Exo" pitchFamily="34" charset="-120"/>
              </a:rPr>
              <a:t> Predictions and recommendations are scenario estimates for decision support, not measured production gains. Human assignment and status control remain in the loop.</a:t>
            </a:r>
            <a:endParaRPr lang="en-US" sz="1450" dirty="0"/>
          </a:p>
        </p:txBody>
      </p:sp>
      <p:sp>
        <p:nvSpPr>
          <p:cNvPr id="10" name="Text 8"/>
          <p:cNvSpPr/>
          <p:nvPr/>
        </p:nvSpPr>
        <p:spPr>
          <a:xfrm>
            <a:off x="609585" y="5714008"/>
            <a:ext cx="3657509" cy="176312"/>
          </a:xfrm>
          <a:prstGeom prst="rect">
            <a:avLst/>
          </a:prstGeom>
          <a:noFill/>
          <a:ln/>
        </p:spPr>
        <p:txBody>
          <a:bodyPr wrap="none" lIns="0" tIns="0" rIns="0" bIns="0" rtlCol="0" anchor="t"/>
          <a:lstStyle/>
          <a:p>
            <a:pPr algn="l" indent="0" marL="0">
              <a:lnSpc>
                <a:spcPct val="108000"/>
              </a:lnSpc>
              <a:buNone/>
            </a:pPr>
            <a:r>
              <a:rPr lang="en-US" sz="1050" spc="91" kern="100" dirty="0">
                <a:solidFill>
                  <a:srgbClr val="B5B5B5"/>
                </a:solidFill>
                <a:latin typeface="Fira Mono Medium" pitchFamily="34" charset="0"/>
                <a:ea typeface="Fira Mono Medium" pitchFamily="34" charset="-122"/>
                <a:cs typeface="Fira Mono Medium" pitchFamily="34" charset="-120"/>
              </a:rPr>
              <a:t>NOW</a:t>
            </a:r>
            <a:endParaRPr lang="en-US" sz="1050" dirty="0"/>
          </a:p>
        </p:txBody>
      </p:sp>
      <p:sp>
        <p:nvSpPr>
          <p:cNvPr id="11" name="Text 9"/>
          <p:cNvSpPr/>
          <p:nvPr/>
        </p:nvSpPr>
        <p:spPr>
          <a:xfrm>
            <a:off x="609585" y="5998071"/>
            <a:ext cx="3428914" cy="517525"/>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5D5D5"/>
                </a:solidFill>
                <a:latin typeface="Exo" pitchFamily="34" charset="0"/>
                <a:ea typeface="Exo" pitchFamily="34" charset="-122"/>
                <a:cs typeface="Exo" pitchFamily="34" charset="-120"/>
              </a:rPr>
              <a:t>Prototype workflow and scenario evidence.</a:t>
            </a:r>
            <a:endParaRPr lang="en-US" sz="1450" dirty="0"/>
          </a:p>
        </p:txBody>
      </p:sp>
      <p:sp>
        <p:nvSpPr>
          <p:cNvPr id="12" name="Text 10"/>
          <p:cNvSpPr/>
          <p:nvPr/>
        </p:nvSpPr>
        <p:spPr>
          <a:xfrm>
            <a:off x="4495688" y="5714008"/>
            <a:ext cx="3428914" cy="176312"/>
          </a:xfrm>
          <a:prstGeom prst="rect">
            <a:avLst/>
          </a:prstGeom>
          <a:noFill/>
          <a:ln/>
        </p:spPr>
        <p:txBody>
          <a:bodyPr wrap="none" lIns="0" tIns="0" rIns="0" bIns="0" rtlCol="0" anchor="t"/>
          <a:lstStyle/>
          <a:p>
            <a:pPr algn="l" indent="0" marL="0">
              <a:lnSpc>
                <a:spcPct val="108000"/>
              </a:lnSpc>
              <a:buNone/>
            </a:pPr>
            <a:r>
              <a:rPr lang="en-US" sz="1050" spc="91" kern="100" dirty="0">
                <a:solidFill>
                  <a:srgbClr val="B5B5B5"/>
                </a:solidFill>
                <a:latin typeface="Fira Mono Medium" pitchFamily="34" charset="0"/>
                <a:ea typeface="Fira Mono Medium" pitchFamily="34" charset="-122"/>
                <a:cs typeface="Fira Mono Medium" pitchFamily="34" charset="-120"/>
              </a:rPr>
              <a:t>NEXT</a:t>
            </a:r>
            <a:endParaRPr lang="en-US" sz="1050" dirty="0"/>
          </a:p>
        </p:txBody>
      </p:sp>
      <p:sp>
        <p:nvSpPr>
          <p:cNvPr id="13" name="Text 11"/>
          <p:cNvSpPr/>
          <p:nvPr/>
        </p:nvSpPr>
        <p:spPr>
          <a:xfrm>
            <a:off x="4495688" y="5998071"/>
            <a:ext cx="3200320" cy="517525"/>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5D5D5"/>
                </a:solidFill>
                <a:latin typeface="Exo" pitchFamily="34" charset="0"/>
                <a:ea typeface="Exo" pitchFamily="34" charset="-122"/>
                <a:cs typeface="Exo" pitchFamily="34" charset="-120"/>
              </a:rPr>
              <a:t>Validate bounded integrations and operational controls.</a:t>
            </a:r>
            <a:endParaRPr lang="en-US" sz="1450" dirty="0"/>
          </a:p>
        </p:txBody>
      </p:sp>
      <p:sp>
        <p:nvSpPr>
          <p:cNvPr id="14" name="Text 12"/>
          <p:cNvSpPr/>
          <p:nvPr/>
        </p:nvSpPr>
        <p:spPr>
          <a:xfrm>
            <a:off x="8153196" y="5714008"/>
            <a:ext cx="3428914" cy="176312"/>
          </a:xfrm>
          <a:prstGeom prst="rect">
            <a:avLst/>
          </a:prstGeom>
          <a:noFill/>
          <a:ln/>
        </p:spPr>
        <p:txBody>
          <a:bodyPr wrap="none" lIns="0" tIns="0" rIns="0" bIns="0" rtlCol="0" anchor="t"/>
          <a:lstStyle/>
          <a:p>
            <a:pPr algn="l" indent="0" marL="0">
              <a:lnSpc>
                <a:spcPct val="108000"/>
              </a:lnSpc>
              <a:buNone/>
            </a:pPr>
            <a:r>
              <a:rPr lang="en-US" sz="1050" spc="91" kern="100" dirty="0">
                <a:solidFill>
                  <a:srgbClr val="B5B5B5"/>
                </a:solidFill>
                <a:latin typeface="Fira Mono Medium" pitchFamily="34" charset="0"/>
                <a:ea typeface="Fira Mono Medium" pitchFamily="34" charset="-122"/>
                <a:cs typeface="Fira Mono Medium" pitchFamily="34" charset="-120"/>
              </a:rPr>
              <a:t>ALWAYS</a:t>
            </a:r>
            <a:endParaRPr lang="en-US" sz="1050" dirty="0"/>
          </a:p>
        </p:txBody>
      </p:sp>
      <p:sp>
        <p:nvSpPr>
          <p:cNvPr id="15" name="Text 13"/>
          <p:cNvSpPr/>
          <p:nvPr/>
        </p:nvSpPr>
        <p:spPr>
          <a:xfrm>
            <a:off x="8153196" y="5998071"/>
            <a:ext cx="3428914" cy="517525"/>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D5D5D5"/>
                </a:solidFill>
                <a:latin typeface="Exo" pitchFamily="34" charset="0"/>
                <a:ea typeface="Exo" pitchFamily="34" charset="-122"/>
                <a:cs typeface="Exo" pitchFamily="34" charset="-120"/>
              </a:rPr>
              <a:t>Keep human approval and caveats visible.</a:t>
            </a:r>
            <a:endParaRPr lang="en-US" sz="1450" dirty="0"/>
          </a:p>
        </p:txBody>
      </p:sp>
      <p:sp>
        <p:nvSpPr>
          <p:cNvPr id="16" name="Text 14"/>
          <p:cNvSpPr/>
          <p:nvPr/>
        </p:nvSpPr>
        <p:spPr>
          <a:xfrm>
            <a:off x="609585" y="6683177"/>
            <a:ext cx="11582110" cy="176312"/>
          </a:xfrm>
          <a:prstGeom prst="rect">
            <a:avLst/>
          </a:prstGeom>
          <a:noFill/>
          <a:ln/>
        </p:spPr>
        <p:txBody>
          <a:bodyPr wrap="none" lIns="0" tIns="0" rIns="0" bIns="0" rtlCol="0" anchor="t"/>
          <a:lstStyle/>
          <a:p>
            <a:pPr algn="l" indent="0" marL="0">
              <a:lnSpc>
                <a:spcPct val="108000"/>
              </a:lnSpc>
              <a:buNone/>
            </a:pPr>
            <a:r>
              <a:rPr lang="en-US" sz="1050" spc="91" kern="100" dirty="0">
                <a:solidFill>
                  <a:srgbClr val="B5B5B5"/>
                </a:solidFill>
                <a:latin typeface="Fira Mono Medium" pitchFamily="34" charset="0"/>
                <a:ea typeface="Fira Mono Medium" pitchFamily="34" charset="-122"/>
                <a:cs typeface="Fira Mono Medium" pitchFamily="34" charset="-120"/>
              </a:rPr>
              <a:t>404: NOT FOUND • DQ3-023 • DQBH</a:t>
            </a:r>
            <a:endParaRPr lang="en-US" sz="1050" dirty="0"/>
          </a:p>
        </p:txBody>
      </p:sp>
      <p:sp>
        <p:nvSpPr>
          <p:cNvPr id="17" name="Shape 15"/>
          <p:cNvSpPr/>
          <p:nvPr/>
        </p:nvSpPr>
        <p:spPr>
          <a:xfrm>
            <a:off x="4260743" y="5714008"/>
            <a:ext cx="12700" cy="801588"/>
          </a:xfrm>
          <a:prstGeom prst="rect">
            <a:avLst/>
          </a:prstGeom>
          <a:solidFill>
            <a:srgbClr val="3F3F3F"/>
          </a:solidFill>
          <a:ln/>
        </p:spPr>
      </p:sp>
      <p:sp>
        <p:nvSpPr>
          <p:cNvPr id="18" name="Shape 16"/>
          <p:cNvSpPr/>
          <p:nvPr/>
        </p:nvSpPr>
        <p:spPr>
          <a:xfrm>
            <a:off x="7918252" y="5714008"/>
            <a:ext cx="12700" cy="801588"/>
          </a:xfrm>
          <a:prstGeom prst="rect">
            <a:avLst/>
          </a:prstGeom>
          <a:solidFill>
            <a:srgbClr val="3F3F3F"/>
          </a:solidFill>
          <a:ln/>
        </p:spPr>
      </p:sp>
      <p:sp>
        <p:nvSpPr>
          <p:cNvPr id="19" name="Text 17"/>
          <p:cNvSpPr/>
          <p:nvPr/>
        </p:nvSpPr>
        <p:spPr>
          <a:xfrm>
            <a:off x="11824992" y="6461224"/>
            <a:ext cx="366703" cy="183852"/>
          </a:xfrm>
          <a:prstGeom prst="rect">
            <a:avLst/>
          </a:prstGeom>
          <a:noFill/>
          <a:ln/>
        </p:spPr>
        <p:txBody>
          <a:bodyPr wrap="none" lIns="0" tIns="0" rIns="0" bIns="0" rtlCol="0" anchor="ctr"/>
          <a:lstStyle/>
          <a:p>
            <a:pPr algn="l" indent="0" marL="0">
              <a:lnSpc>
                <a:spcPct val="118000"/>
              </a:lnSpc>
              <a:buNone/>
            </a:pPr>
            <a:r>
              <a:rPr lang="en-US" sz="1000" spc="82" kern="100" dirty="0">
                <a:solidFill>
                  <a:srgbClr val="9D9D9D"/>
                </a:solidFill>
                <a:latin typeface="Fira Mono" pitchFamily="34" charset="0"/>
                <a:ea typeface="Fira Mono" pitchFamily="34" charset="-122"/>
                <a:cs typeface="Fira Mono"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241B55"/>
          </a:solidFill>
          <a:ln/>
        </p:spPr>
      </p:sp>
      <p:sp>
        <p:nvSpPr>
          <p:cNvPr id="3" name="Text 1"/>
          <p:cNvSpPr/>
          <p:nvPr/>
        </p:nvSpPr>
        <p:spPr>
          <a:xfrm>
            <a:off x="457189" y="1029434"/>
            <a:ext cx="5638659"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THE PROMISE</a:t>
            </a:r>
            <a:endParaRPr lang="en-US" sz="1100" dirty="0"/>
          </a:p>
        </p:txBody>
      </p:sp>
      <p:sp>
        <p:nvSpPr>
          <p:cNvPr id="4" name="Text 2"/>
          <p:cNvSpPr/>
          <p:nvPr/>
        </p:nvSpPr>
        <p:spPr>
          <a:xfrm>
            <a:off x="457189" y="1321653"/>
            <a:ext cx="5181470" cy="2377777"/>
          </a:xfrm>
          <a:prstGeom prst="rect">
            <a:avLst/>
          </a:prstGeom>
          <a:noFill/>
          <a:ln/>
        </p:spPr>
        <p:txBody>
          <a:bodyPr wrap="square" lIns="0" tIns="0" rIns="0" bIns="0" rtlCol="0" anchor="t">
            <a:normAutofit/>
          </a:bodyPr>
          <a:lstStyle/>
          <a:p>
            <a:pPr algn="l" indent="0" marL="0">
              <a:lnSpc>
                <a:spcPct val="89000"/>
              </a:lnSpc>
              <a:buNone/>
            </a:pPr>
            <a:r>
              <a:rPr lang="en-US" sz="3500" spc="-42" kern="100" dirty="0">
                <a:solidFill>
                  <a:srgbClr val="FFFFFF"/>
                </a:solidFill>
                <a:latin typeface="Exo SemiBold" pitchFamily="34" charset="0"/>
                <a:ea typeface="Exo SemiBold" pitchFamily="34" charset="-122"/>
                <a:cs typeface="Exo SemiBold" pitchFamily="34" charset="-120"/>
              </a:rPr>
              <a:t>Intelligent.</a:t>
            </a:r>
            <a:endParaRPr lang="en-US" sz="3500" dirty="0"/>
          </a:p>
          <a:p>
            <a:pPr algn="l" indent="0" marL="0">
              <a:lnSpc>
                <a:spcPct val="89000"/>
              </a:lnSpc>
              <a:buNone/>
            </a:pPr>
            <a:r>
              <a:rPr lang="en-US" sz="3500" spc="-42" kern="100" dirty="0">
                <a:solidFill>
                  <a:srgbClr val="FFFFFF"/>
                </a:solidFill>
                <a:latin typeface="Exo SemiBold" pitchFamily="34" charset="0"/>
                <a:ea typeface="Exo SemiBold" pitchFamily="34" charset="-122"/>
                <a:cs typeface="Exo SemiBold" pitchFamily="34" charset="-120"/>
              </a:rPr>
              <a:t>Resilient.</a:t>
            </a:r>
            <a:endParaRPr lang="en-US" sz="3500" dirty="0"/>
          </a:p>
          <a:p>
            <a:pPr algn="l" indent="0" marL="0">
              <a:lnSpc>
                <a:spcPct val="89000"/>
              </a:lnSpc>
              <a:buNone/>
            </a:pPr>
            <a:r>
              <a:rPr lang="en-US" sz="3500" spc="-42" kern="100" dirty="0">
                <a:solidFill>
                  <a:srgbClr val="FFFFFF"/>
                </a:solidFill>
                <a:latin typeface="Exo SemiBold" pitchFamily="34" charset="0"/>
                <a:ea typeface="Exo SemiBold" pitchFamily="34" charset="-122"/>
                <a:cs typeface="Exo SemiBold" pitchFamily="34" charset="-120"/>
              </a:rPr>
              <a:t>Resource-aware.</a:t>
            </a:r>
            <a:endParaRPr lang="en-US" sz="3500" dirty="0"/>
          </a:p>
          <a:p>
            <a:pPr algn="l" indent="0" marL="0">
              <a:lnSpc>
                <a:spcPct val="89000"/>
              </a:lnSpc>
              <a:buNone/>
            </a:pPr>
            <a:r>
              <a:rPr lang="en-US" sz="3500" spc="-42" kern="100" dirty="0">
                <a:solidFill>
                  <a:srgbClr val="FFFFFF"/>
                </a:solidFill>
                <a:latin typeface="Exo SemiBold" pitchFamily="34" charset="0"/>
                <a:ea typeface="Exo SemiBold" pitchFamily="34" charset="-122"/>
                <a:cs typeface="Exo SemiBold" pitchFamily="34" charset="-120"/>
              </a:rPr>
              <a:t>Explainable.</a:t>
            </a:r>
            <a:endParaRPr lang="en-US" sz="3500" dirty="0"/>
          </a:p>
          <a:p>
            <a:pPr algn="l" indent="0" marL="0">
              <a:lnSpc>
                <a:spcPct val="89000"/>
              </a:lnSpc>
              <a:buNone/>
            </a:pPr>
            <a:r>
              <a:rPr lang="en-US" sz="3500" spc="-42" kern="100" dirty="0">
                <a:solidFill>
                  <a:srgbClr val="FFFFFF"/>
                </a:solidFill>
                <a:latin typeface="Exo SemiBold" pitchFamily="34" charset="0"/>
                <a:ea typeface="Exo SemiBold" pitchFamily="34" charset="-122"/>
                <a:cs typeface="Exo SemiBold" pitchFamily="34" charset="-120"/>
              </a:rPr>
              <a:t>Human-controlled.</a:t>
            </a:r>
            <a:endParaRPr lang="en-US" sz="3500" dirty="0"/>
          </a:p>
        </p:txBody>
      </p:sp>
      <p:sp>
        <p:nvSpPr>
          <p:cNvPr id="5" name="Shape 3"/>
          <p:cNvSpPr/>
          <p:nvPr/>
        </p:nvSpPr>
        <p:spPr>
          <a:xfrm>
            <a:off x="457189" y="3908822"/>
            <a:ext cx="1295368" cy="31651"/>
          </a:xfrm>
          <a:prstGeom prst="roundRect">
            <a:avLst>
              <a:gd name="adj" fmla="val 49998"/>
            </a:avLst>
          </a:prstGeom>
          <a:solidFill>
            <a:srgbClr val="9BE1FF"/>
          </a:solidFill>
          <a:ln/>
        </p:spPr>
      </p:sp>
      <p:sp>
        <p:nvSpPr>
          <p:cNvPr id="6" name="Text 4"/>
          <p:cNvSpPr/>
          <p:nvPr/>
        </p:nvSpPr>
        <p:spPr>
          <a:xfrm>
            <a:off x="457189" y="4165933"/>
            <a:ext cx="5181470" cy="368697"/>
          </a:xfrm>
          <a:prstGeom prst="rect">
            <a:avLst/>
          </a:prstGeom>
          <a:noFill/>
          <a:ln/>
        </p:spPr>
        <p:txBody>
          <a:bodyPr wrap="square" lIns="0" tIns="0" rIns="0" bIns="0" rtlCol="0" anchor="t">
            <a:normAutofit/>
          </a:bodyPr>
          <a:lstStyle/>
          <a:p>
            <a:pPr algn="l" indent="0" marL="0">
              <a:lnSpc>
                <a:spcPct val="110000"/>
              </a:lnSpc>
              <a:buNone/>
            </a:pPr>
            <a:r>
              <a:rPr lang="en-US" sz="1100" spc="11" kern="100" dirty="0">
                <a:solidFill>
                  <a:srgbClr val="FFFFFF"/>
                </a:solidFill>
                <a:latin typeface="Exo" pitchFamily="34" charset="0"/>
                <a:ea typeface="Exo" pitchFamily="34" charset="-122"/>
                <a:cs typeface="Exo" pitchFamily="34" charset="-120"/>
              </a:rPr>
              <a:t>Prototype scope: scenario estimates only; no autonomous assignment changes.</a:t>
            </a:r>
            <a:endParaRPr lang="en-US" sz="1100" dirty="0"/>
          </a:p>
        </p:txBody>
      </p:sp>
      <p:sp>
        <p:nvSpPr>
          <p:cNvPr id="7" name="Text 5"/>
          <p:cNvSpPr/>
          <p:nvPr/>
        </p:nvSpPr>
        <p:spPr>
          <a:xfrm>
            <a:off x="457189" y="4710906"/>
            <a:ext cx="5181470" cy="989211"/>
          </a:xfrm>
          <a:prstGeom prst="rect">
            <a:avLst/>
          </a:prstGeom>
          <a:noFill/>
          <a:ln/>
        </p:spPr>
        <p:txBody>
          <a:bodyPr wrap="square" lIns="0" tIns="0" rIns="0" bIns="0" rtlCol="0" anchor="t"/>
          <a:lstStyle/>
          <a:p>
            <a:pPr algn="l" indent="0" marL="0">
              <a:lnSpc>
                <a:spcPct val="118000"/>
              </a:lnSpc>
              <a:spcAft>
                <a:spcPts val="1350"/>
              </a:spcAft>
              <a:buNone/>
            </a:pPr>
            <a:r>
              <a:rPr lang="en-US" sz="1500" b="1" u="sng" dirty="0">
                <a:solidFill>
                  <a:srgbClr val="9BE1FF"/>
                </a:solidFill>
                <a:latin typeface="Exo Bold" pitchFamily="34" charset="0"/>
                <a:ea typeface="Exo Bold" pitchFamily="34" charset="-122"/>
                <a:cs typeface="Exo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Live Demo</a:t>
            </a:r>
            <a:endParaRPr lang="en-US" sz="1500" dirty="0"/>
          </a:p>
          <a:p>
            <a:pPr algn="l" indent="0" marL="0">
              <a:lnSpc>
                <a:spcPct val="118000"/>
              </a:lnSpc>
              <a:buNone/>
            </a:pPr>
            <a:r>
              <a:rPr lang="en-US" sz="1500" dirty="0">
                <a:solidFill>
                  <a:srgbClr val="FFFFFF"/>
                </a:solidFill>
                <a:latin typeface="Exo" pitchFamily="34" charset="0"/>
                <a:ea typeface="Exo" pitchFamily="34" charset="-122"/>
                <a:cs typeface="Exo" pitchFamily="34" charset="-120"/>
              </a:rPr>
              <a:t>MaintenaX gives maintenance managers better decisions, better scenarios, and better explanations.</a:t>
            </a:r>
            <a:endParaRPr lang="en-US" sz="1500" dirty="0"/>
          </a:p>
        </p:txBody>
      </p:sp>
      <p:sp>
        <p:nvSpPr>
          <p:cNvPr id="8" name="Text 6"/>
          <p:cNvSpPr/>
          <p:nvPr/>
        </p:nvSpPr>
        <p:spPr>
          <a:xfrm>
            <a:off x="457189" y="6297751"/>
            <a:ext cx="5638659"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404: NOT FOUND • DQ3-023 • DQBH</a:t>
            </a:r>
            <a:endParaRPr lang="en-US" sz="1100" dirty="0"/>
          </a:p>
        </p:txBody>
      </p:sp>
      <p:sp>
        <p:nvSpPr>
          <p:cNvPr id="9" name="Text 7"/>
          <p:cNvSpPr/>
          <p:nvPr/>
        </p:nvSpPr>
        <p:spPr>
          <a:xfrm>
            <a:off x="6527637" y="383222"/>
            <a:ext cx="5664058"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REFERENCES</a:t>
            </a:r>
            <a:endParaRPr lang="en-US" sz="1100" dirty="0"/>
          </a:p>
        </p:txBody>
      </p:sp>
      <p:sp>
        <p:nvSpPr>
          <p:cNvPr id="10" name="Text 8"/>
          <p:cNvSpPr/>
          <p:nvPr/>
        </p:nvSpPr>
        <p:spPr>
          <a:xfrm>
            <a:off x="6527637" y="675442"/>
            <a:ext cx="5232269" cy="475555"/>
          </a:xfrm>
          <a:prstGeom prst="rect">
            <a:avLst/>
          </a:prstGeom>
          <a:noFill/>
          <a:ln/>
        </p:spPr>
        <p:txBody>
          <a:bodyPr wrap="none" lIns="0" tIns="0" rIns="0" bIns="0" rtlCol="0" anchor="t"/>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Evidence behind the pitch</a:t>
            </a:r>
            <a:endParaRPr lang="en-US" sz="3500" dirty="0"/>
          </a:p>
        </p:txBody>
      </p:sp>
      <p:sp>
        <p:nvSpPr>
          <p:cNvPr id="11" name="Shape 9"/>
          <p:cNvSpPr/>
          <p:nvPr/>
        </p:nvSpPr>
        <p:spPr>
          <a:xfrm>
            <a:off x="6527637" y="1360388"/>
            <a:ext cx="1307968" cy="31651"/>
          </a:xfrm>
          <a:prstGeom prst="roundRect">
            <a:avLst>
              <a:gd name="adj" fmla="val 49998"/>
            </a:avLst>
          </a:prstGeom>
          <a:solidFill>
            <a:srgbClr val="9BE1FF"/>
          </a:solidFill>
          <a:ln/>
        </p:spPr>
      </p:sp>
      <p:sp>
        <p:nvSpPr>
          <p:cNvPr id="12" name="Text 10"/>
          <p:cNvSpPr/>
          <p:nvPr/>
        </p:nvSpPr>
        <p:spPr>
          <a:xfrm>
            <a:off x="6527637" y="1615976"/>
            <a:ext cx="5232269" cy="4040584"/>
          </a:xfrm>
          <a:prstGeom prst="rect">
            <a:avLst/>
          </a:prstGeom>
          <a:noFill/>
          <a:ln/>
        </p:spPr>
        <p:txBody>
          <a:bodyPr wrap="square" lIns="0" tIns="0" rIns="0" bIns="0" rtlCol="0" anchor="t">
            <a:normAutofit/>
          </a:bodyPr>
          <a:lstStyle/>
          <a:p>
            <a:pPr algn="l" marL="304800" indent="-304800">
              <a:lnSpc>
                <a:spcPct val="118000"/>
              </a:lnSpc>
              <a:buSzPct val="100000"/>
              <a:buFont typeface="+mj-lt"/>
              <a:buAutoNum type="arabicPeriod" startAt="1"/>
            </a:pPr>
            <a:r>
              <a:rPr lang="en-US" sz="1500" dirty="0">
                <a:solidFill>
                  <a:srgbClr val="D5D5D5"/>
                </a:solidFill>
                <a:latin typeface="Exo" pitchFamily="34" charset="0"/>
                <a:ea typeface="Exo" pitchFamily="34" charset="-122"/>
                <a:cs typeface="Exo" pitchFamily="34" charset="-120"/>
              </a:rPr>
              <a:t>DQBH, “Next-Generation Activity Management Platform,” DataQuest 3.0, Round 1</a:t>
            </a:r>
            <a:endParaRPr lang="en-US" sz="1500" dirty="0"/>
          </a:p>
          <a:p>
            <a:pPr algn="l" marL="304800" indent="-304800">
              <a:lnSpc>
                <a:spcPct val="118000"/>
              </a:lnSpc>
              <a:buSzPct val="100000"/>
              <a:buFont typeface="+mj-lt"/>
              <a:buAutoNum type="arabicPeriod" startAt="2"/>
            </a:pPr>
            <a:r>
              <a:rPr lang="en-US" sz="1500" dirty="0">
                <a:solidFill>
                  <a:srgbClr val="D5D5D5"/>
                </a:solidFill>
                <a:latin typeface="Exo" pitchFamily="34" charset="0"/>
                <a:ea typeface="Exo" pitchFamily="34" charset="-122"/>
                <a:cs typeface="Exo" pitchFamily="34" charset="-120"/>
              </a:rPr>
              <a:t>“Where do we start? Guidance for technology implementation in maintenance management for manufacturing,” 2018</a:t>
            </a:r>
            <a:endParaRPr lang="en-US" sz="1500" dirty="0"/>
          </a:p>
          <a:p>
            <a:pPr algn="l" marL="304800" indent="-304800">
              <a:lnSpc>
                <a:spcPct val="118000"/>
              </a:lnSpc>
              <a:buSzPct val="100000"/>
              <a:buFont typeface="+mj-lt"/>
              <a:buAutoNum type="arabicPeriod" startAt="3"/>
            </a:pPr>
            <a:r>
              <a:rPr lang="en-US" sz="1500" dirty="0">
                <a:solidFill>
                  <a:srgbClr val="D5D5D5"/>
                </a:solidFill>
                <a:latin typeface="Exo" pitchFamily="34" charset="0"/>
                <a:ea typeface="Exo" pitchFamily="34" charset="-122"/>
                <a:cs typeface="Exo" pitchFamily="34" charset="-120"/>
              </a:rPr>
              <a:t>Dinis, “Maintenance capacity planning, spare parts management, and maintenance scheduling: An overview,” Elsevier, 2025</a:t>
            </a:r>
            <a:endParaRPr lang="en-US" sz="1500" dirty="0"/>
          </a:p>
          <a:p>
            <a:pPr algn="l" marL="304800" indent="-304800">
              <a:lnSpc>
                <a:spcPct val="118000"/>
              </a:lnSpc>
              <a:buSzPct val="100000"/>
              <a:buFont typeface="+mj-lt"/>
              <a:buAutoNum type="arabicPeriod" startAt="4"/>
            </a:pPr>
            <a:r>
              <a:rPr lang="en-US" sz="1500" dirty="0">
                <a:solidFill>
                  <a:srgbClr val="D5D5D5"/>
                </a:solidFill>
                <a:latin typeface="Exo" pitchFamily="34" charset="0"/>
                <a:ea typeface="Exo" pitchFamily="34" charset="-122"/>
                <a:cs typeface="Exo" pitchFamily="34" charset="-120"/>
              </a:rPr>
              <a:t>“A competence-based planning methodology for optimizing human resource allocation in industrial maintenance,” 2023–2024</a:t>
            </a:r>
            <a:endParaRPr lang="en-US" sz="1500" dirty="0"/>
          </a:p>
          <a:p>
            <a:pPr algn="l" marL="304800" indent="-304800">
              <a:lnSpc>
                <a:spcPct val="118000"/>
              </a:lnSpc>
              <a:buSzPct val="100000"/>
              <a:buFont typeface="+mj-lt"/>
              <a:buAutoNum type="arabicPeriod" startAt="5"/>
            </a:pPr>
            <a:r>
              <a:rPr lang="en-US" sz="1500" b="1" u="sng" dirty="0">
                <a:solidFill>
                  <a:srgbClr val="9BE1FF"/>
                </a:solidFill>
                <a:latin typeface="Exo Bold" pitchFamily="34" charset="0"/>
                <a:ea typeface="Exo Bold" pitchFamily="34" charset="-122"/>
                <a:cs typeface="Exo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MaintenaX GitHub repository</a:t>
            </a:r>
            <a:endParaRPr lang="en-US" sz="1500" dirty="0"/>
          </a:p>
          <a:p>
            <a:pPr algn="l" marL="304800" indent="-304800">
              <a:lnSpc>
                <a:spcPct val="118000"/>
              </a:lnSpc>
              <a:buSzPct val="100000"/>
              <a:buFont typeface="+mj-lt"/>
              <a:buAutoNum type="arabicPeriod" startAt="6"/>
            </a:pPr>
            <a:r>
              <a:rPr lang="en-US" sz="1500" b="1" u="sng" dirty="0">
                <a:solidFill>
                  <a:srgbClr val="9BE1FF"/>
                </a:solidFill>
                <a:latin typeface="Exo Bold" pitchFamily="34" charset="0"/>
                <a:ea typeface="Exo Bold" pitchFamily="34" charset="-122"/>
                <a:cs typeface="Exo 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React documentation</a:t>
            </a:r>
            <a:pPr algn="l" marL="304800" indent="-304800">
              <a:lnSpc>
                <a:spcPct val="118000"/>
              </a:lnSpc>
              <a:buSzPct val="100000"/>
              <a:buFont typeface="+mj-lt"/>
              <a:buAutoNum type="arabicPeriod" startAt="6"/>
            </a:pPr>
            <a:r>
              <a:rPr lang="en-US" sz="1500" dirty="0">
                <a:solidFill>
                  <a:srgbClr val="D5D5D5"/>
                </a:solidFill>
                <a:latin typeface="Exo" pitchFamily="34" charset="0"/>
                <a:ea typeface="Exo" pitchFamily="34" charset="-122"/>
                <a:cs typeface="Exo" pitchFamily="34" charset="-120"/>
              </a:rPr>
              <a:t>; </a:t>
            </a:r>
            <a:pPr algn="l" marL="304800" indent="-304800">
              <a:lnSpc>
                <a:spcPct val="118000"/>
              </a:lnSpc>
              <a:buSzPct val="100000"/>
              <a:buFont typeface="+mj-lt"/>
              <a:buAutoNum type="arabicPeriod" startAt="6"/>
            </a:pPr>
            <a:r>
              <a:rPr lang="en-US" sz="1500" b="1" u="sng" dirty="0">
                <a:solidFill>
                  <a:srgbClr val="9BE1FF"/>
                </a:solidFill>
                <a:latin typeface="Exo Bold" pitchFamily="34" charset="0"/>
                <a:ea typeface="Exo Bold" pitchFamily="34" charset="-122"/>
                <a:cs typeface="Exo Bold" pitchFamily="34" charset="-120"/>
                <a:hlinkClick r:id="rId4" invalidUrl="" action="" tgtFrame="" tooltip="" history="1" highlightClick="0" endSnd="0">
                  <a:extLst>
                    <a:ext uri="{A12FA001-AC4F-418D-AE19-62706E023703}">
                      <ahyp:hlinkClr xmlns:ahyp="http://schemas.microsoft.com/office/drawing/2018/hyperlinkcolor" val="tx"/>
                    </a:ext>
                  </a:extLst>
                </a:hlinkClick>
              </a:rPr>
              <a:t>FastAPI documentation</a:t>
            </a:r>
            <a:pPr algn="l" marL="304800" indent="-304800">
              <a:lnSpc>
                <a:spcPct val="118000"/>
              </a:lnSpc>
              <a:buSzPct val="100000"/>
              <a:buFont typeface="+mj-lt"/>
              <a:buAutoNum type="arabicPeriod" startAt="6"/>
            </a:pPr>
            <a:r>
              <a:rPr lang="en-US" sz="1500" dirty="0">
                <a:solidFill>
                  <a:srgbClr val="D5D5D5"/>
                </a:solidFill>
                <a:latin typeface="Exo" pitchFamily="34" charset="0"/>
                <a:ea typeface="Exo" pitchFamily="34" charset="-122"/>
                <a:cs typeface="Exo" pitchFamily="34" charset="-120"/>
              </a:rPr>
              <a:t>; </a:t>
            </a:r>
            <a:pPr algn="l" marL="304800" indent="-304800">
              <a:lnSpc>
                <a:spcPct val="118000"/>
              </a:lnSpc>
              <a:buSzPct val="100000"/>
              <a:buFont typeface="+mj-lt"/>
              <a:buAutoNum type="arabicPeriod" startAt="6"/>
            </a:pPr>
            <a:r>
              <a:rPr lang="en-US" sz="1500" b="1" u="sng" dirty="0">
                <a:solidFill>
                  <a:srgbClr val="9BE1FF"/>
                </a:solidFill>
                <a:latin typeface="Exo Bold" pitchFamily="34" charset="0"/>
                <a:ea typeface="Exo Bold" pitchFamily="34" charset="-122"/>
                <a:cs typeface="Exo Bold" pitchFamily="34" charset="-120"/>
                <a:hlinkClick r:id="rId5" invalidUrl="" action="" tgtFrame="" tooltip="" history="1" highlightClick="0" endSnd="0">
                  <a:extLst>
                    <a:ext uri="{A12FA001-AC4F-418D-AE19-62706E023703}">
                      <ahyp:hlinkClr xmlns:ahyp="http://schemas.microsoft.com/office/drawing/2018/hyperlinkcolor" val="tx"/>
                    </a:ext>
                  </a:extLst>
                </a:hlinkClick>
              </a:rPr>
              <a:t>SQLAlchemy documentation</a:t>
            </a:r>
            <a:endParaRPr lang="en-US" sz="1500" dirty="0"/>
          </a:p>
        </p:txBody>
      </p:sp>
      <p:sp>
        <p:nvSpPr>
          <p:cNvPr id="13" name="Text 11"/>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10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9BE1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2026-10-08T01:39:33Z</dcterms:created>
  <dcterms:modified xsi:type="dcterms:W3CDTF">2026-10-08T01:39:33Z</dcterms:modified>
</cp:coreProperties>
</file>